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8" r:id="rId2"/>
    <p:sldId id="281" r:id="rId3"/>
    <p:sldId id="290" r:id="rId4"/>
    <p:sldId id="293" r:id="rId5"/>
    <p:sldId id="299"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7/26/2026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outcome, not the architecture. We built an AI agent that runs a real EnergyPlus building simulation in closed loop. Measured on an identical summer day, it cut cooling energy 37 percent while reducing time-outside-comfort from 87 percent to 20 percent. The building on the right is the real five-zone geometry from the EnergyPlus model, not a drawing. Fill in the portal fields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Three columns: the problem, what we built, why it is novel. The single most important design decision is in column three — the language model never produces a number. It selects one of four labelled actions and explains the choice; deterministic code does the arithmetic. That removes unit confusion and hallucinated precision, and makes an unrecognised response detectable rather than plausible. The strip along the bottom is the loop the dashboard renders live.</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Left column is the data path, top to bottom, and it is a real closed loop — control writes back into EnergyPlus. Two things to call out. First, timing: sensors are read at the end of a timestep, but actuators must be written before the zone predictor runs, otherwise the write silently does nothing. Second, the safety envelope on the bottom right. The deadband rule is not stylistic — we discovered that an inverted deadband makes EnergyPlus terminate outright, so a hallucinated setpoint would end the demo. That rule is enforced last and unconditionally.</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Lead with the measured table — this is the part that separates a built system from a proposal. Both agents cut cooling about 37 percent, and comfort improved at the same time because the unmanaged building was over-cooled: occupants sat at PMV minus 0.55. Be honest that the rule engine and the language model are comparable rather than ranked — this is one simulated day. The risk cards are the answers to the four questions judges always ask, and each one is already implemented.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9F277-D966-5891-8E8E-FE1852E6B425}"/>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63166A99-EAE2-2E28-993F-D5871297B24D}"/>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4ED88F3D-7791-59C8-716F-0AAD4C669A9A}"/>
              </a:ext>
            </a:extLst>
          </p:cNvPr>
          <p:cNvSpPr>
            <a:spLocks noGrp="1"/>
          </p:cNvSpPr>
          <p:nvPr>
            <p:ph type="body" idx="1"/>
          </p:nvPr>
        </p:nvSpPr>
        <p:spPr bwMode="auto">
          <a:noFill/>
        </p:spPr>
        <p:txBody>
          <a:bodyPr wrap="square" numCol="1" anchor="t" anchorCtr="0" compatLnSpc="1">
            <a:prstTxWarp prst="textNoShape">
              <a:avLst/>
            </a:prstTxWarp>
          </a:bodyPr>
          <a:lstStyle/>
          <a:p>
            <a:r>
              <a:t>This is one screen, no tabs. Top left is the real building geometry with live comfort colouring. The centre panel is the case file for the current decision: what the agent observed, its own words for why, what it expected, and what actually happened afterwards — we measure the outcome and show the discrepancy rather than hiding it. Right side is the safety layer. Invite the judge to press Request 4 degrees themselves; the clamp is real, it goes through the same endpoint the agent uses.</a:t>
            </a:r>
          </a:p>
        </p:txBody>
      </p:sp>
      <p:sp>
        <p:nvSpPr>
          <p:cNvPr id="18435" name="Slide Number Placeholder 3">
            <a:extLst>
              <a:ext uri="{FF2B5EF4-FFF2-40B4-BE49-F238E27FC236}">
                <a16:creationId xmlns:a16="http://schemas.microsoft.com/office/drawing/2014/main" id="{CC82298B-112C-33CB-5F98-D6F1C4A4C6DE}"/>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41730513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Standards first, because the comfort model is the part judges probe. PMV is ISO 7730; we measure two of its six inputs and state the other four as assumptions. The bottom block is the reproducibility story — four commands take you from a clean machine to the running dashboard, and one of them regenerates the benchmark table on the previous slide.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7/26/2026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7/26/2026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7/26/2026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7/26/2026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7/26/2026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7/26/2026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7/26/2026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7/26/2026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7/26/2026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7/26/2026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7/26/2026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7/26/2026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C99EC04-BCF1-5A69-7D5A-95D43C9763A1}"/>
              </a:ext>
            </a:extLst>
          </p:cNvPr>
          <p:cNvSpPr>
            <a:spLocks noGrp="1"/>
          </p:cNvSpPr>
          <p:nvPr>
            <p:ph type="sldNum" sz="quarter" idx="12"/>
          </p:nvPr>
        </p:nvSpPr>
        <p:spPr/>
        <p:txBody>
          <a:bodyPr/>
          <a:lstStyle/>
          <a:p>
            <a:fld id="{677C3CE7-23F7-4828-823C-E0205DF2CF97}" type="slidenum">
              <a:rPr lang="en-US" smtClean="0"/>
              <a:pPr/>
              <a:t>1</a:t>
            </a:fld>
            <a:endParaRPr lang="en-US"/>
          </a:p>
        </p:txBody>
      </p:sp>
      <p:sp>
        <p:nvSpPr>
          <p:cNvPr id="6" name="TextBox 5"/>
          <p:cNvSpPr txBox="1"/>
          <p:nvPr/>
        </p:nvSpPr>
        <p:spPr>
          <a:xfrm>
            <a:off x="640080" y="685800"/>
            <a:ext cx="10972800" cy="1463040"/>
          </a:xfrm>
          <a:prstGeom prst="rect">
            <a:avLst/>
          </a:prstGeom>
          <a:noFill/>
        </p:spPr>
        <p:txBody>
          <a:bodyPr wrap="square" lIns="0" tIns="0" rIns="0" bIns="0" anchor="t">
            <a:spAutoFit/>
          </a:bodyPr>
          <a:lstStyle/>
          <a:p>
            <a:pPr algn="l">
              <a:spcBef>
                <a:spcPts val="0"/>
              </a:spcBef>
              <a:spcAft>
                <a:spcPts val="200"/>
              </a:spcAft>
            </a:pPr>
            <a:r>
              <a:rPr sz="4000" b="1" i="0">
                <a:solidFill>
                  <a:srgbClr val="0D1421"/>
                </a:solidFill>
                <a:latin typeface="Cambria"/>
              </a:rPr>
              <a:t>Autonomous Building Management System</a:t>
            </a:r>
          </a:p>
          <a:p>
            <a:pPr algn="l">
              <a:spcBef>
                <a:spcPts val="0"/>
              </a:spcBef>
              <a:spcAft>
                <a:spcPts val="0"/>
              </a:spcAft>
            </a:pPr>
            <a:r>
              <a:rPr sz="1400" b="0" i="0">
                <a:solidFill>
                  <a:srgbClr val="4A5566"/>
                </a:solidFill>
                <a:latin typeface="Calibri"/>
              </a:rPr>
              <a:t>An AI agent that reads a live EnergyPlus building, reasons about comfort and energy, and writes control decisions back — inside a safety envelope it cannot exceed.</a:t>
            </a:r>
          </a:p>
        </p:txBody>
      </p:sp>
      <p:sp>
        <p:nvSpPr>
          <p:cNvPr id="7" name="Rounded Rectangle 6"/>
          <p:cNvSpPr/>
          <p:nvPr/>
        </p:nvSpPr>
        <p:spPr>
          <a:xfrm>
            <a:off x="640080" y="2377440"/>
            <a:ext cx="2606040" cy="96012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spcBef>
                <a:spcPts val="0"/>
              </a:spcBef>
              <a:spcAft>
                <a:spcPts val="0"/>
              </a:spcAft>
            </a:pPr>
            <a:r>
              <a:rPr sz="2400" b="1" i="0">
                <a:solidFill>
                  <a:srgbClr val="0F7A4A"/>
                </a:solidFill>
                <a:latin typeface="Cambria"/>
              </a:rPr>
              <a:t>37%</a:t>
            </a:r>
          </a:p>
          <a:p>
            <a:pPr algn="l">
              <a:spcBef>
                <a:spcPts val="0"/>
              </a:spcBef>
              <a:spcAft>
                <a:spcPts val="0"/>
              </a:spcAft>
            </a:pPr>
            <a:r>
              <a:rPr sz="1000" b="0" i="0">
                <a:solidFill>
                  <a:srgbClr val="4A5566"/>
                </a:solidFill>
                <a:latin typeface="Calibri"/>
              </a:rPr>
              <a:t>less cooling energy</a:t>
            </a:r>
          </a:p>
        </p:txBody>
      </p:sp>
      <p:sp>
        <p:nvSpPr>
          <p:cNvPr id="8" name="Rounded Rectangle 7"/>
          <p:cNvSpPr/>
          <p:nvPr/>
        </p:nvSpPr>
        <p:spPr>
          <a:xfrm>
            <a:off x="3474720" y="2377440"/>
            <a:ext cx="2606040" cy="96012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spcBef>
                <a:spcPts val="0"/>
              </a:spcBef>
              <a:spcAft>
                <a:spcPts val="0"/>
              </a:spcAft>
            </a:pPr>
            <a:r>
              <a:rPr sz="2400" b="1" i="0">
                <a:solidFill>
                  <a:srgbClr val="0F7A4A"/>
                </a:solidFill>
                <a:latin typeface="Cambria"/>
              </a:rPr>
              <a:t>87% → 20%</a:t>
            </a:r>
          </a:p>
          <a:p>
            <a:pPr algn="l">
              <a:spcBef>
                <a:spcPts val="0"/>
              </a:spcBef>
              <a:spcAft>
                <a:spcPts val="0"/>
              </a:spcAft>
            </a:pPr>
            <a:r>
              <a:rPr sz="1000" b="0" i="0">
                <a:solidFill>
                  <a:srgbClr val="4A5566"/>
                </a:solidFill>
                <a:latin typeface="Calibri"/>
              </a:rPr>
              <a:t>time uncomfortable</a:t>
            </a:r>
          </a:p>
        </p:txBody>
      </p:sp>
      <p:sp>
        <p:nvSpPr>
          <p:cNvPr id="9" name="Rounded Rectangle 8"/>
          <p:cNvSpPr/>
          <p:nvPr/>
        </p:nvSpPr>
        <p:spPr>
          <a:xfrm>
            <a:off x="6447012" y="2377440"/>
            <a:ext cx="2606040" cy="96012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109728" tIns="73152" rIns="109728" rtlCol="0" anchor="ctr"/>
          <a:lstStyle/>
          <a:p>
            <a:pPr algn="l">
              <a:spcBef>
                <a:spcPts val="0"/>
              </a:spcBef>
              <a:spcAft>
                <a:spcPts val="0"/>
              </a:spcAft>
            </a:pPr>
            <a:r>
              <a:rPr sz="2400" b="1" i="0">
                <a:solidFill>
                  <a:srgbClr val="D0202F"/>
                </a:solidFill>
                <a:latin typeface="Cambria"/>
              </a:rPr>
              <a:t>0</a:t>
            </a:r>
          </a:p>
          <a:p>
            <a:pPr algn="l">
              <a:spcBef>
                <a:spcPts val="0"/>
              </a:spcBef>
              <a:spcAft>
                <a:spcPts val="0"/>
              </a:spcAft>
            </a:pPr>
            <a:r>
              <a:rPr sz="1000" b="0" i="0">
                <a:solidFill>
                  <a:srgbClr val="4A5566"/>
                </a:solidFill>
                <a:latin typeface="Calibri"/>
              </a:rPr>
              <a:t>safety violations</a:t>
            </a:r>
          </a:p>
        </p:txBody>
      </p:sp>
      <p:sp>
        <p:nvSpPr>
          <p:cNvPr id="10" name="TextBox 9"/>
          <p:cNvSpPr txBox="1"/>
          <p:nvPr/>
        </p:nvSpPr>
        <p:spPr>
          <a:xfrm>
            <a:off x="640079" y="4113745"/>
            <a:ext cx="6704617" cy="1862048"/>
          </a:xfrm>
          <a:prstGeom prst="rect">
            <a:avLst/>
          </a:prstGeom>
          <a:noFill/>
        </p:spPr>
        <p:txBody>
          <a:bodyPr wrap="square" lIns="0" tIns="0" rIns="0" bIns="0" anchor="t">
            <a:spAutoFit/>
          </a:bodyPr>
          <a:lstStyle/>
          <a:p>
            <a:pPr>
              <a:spcAft>
                <a:spcPts val="600"/>
              </a:spcAft>
            </a:pPr>
            <a:r>
              <a:rPr sz="1600" b="1" dirty="0">
                <a:solidFill>
                  <a:srgbClr val="4A5566"/>
                </a:solidFill>
                <a:latin typeface="Calibri"/>
              </a:rPr>
              <a:t>Problem Statement ID:  </a:t>
            </a:r>
            <a:r>
              <a:rPr lang="en-US" sz="1600" b="1" dirty="0">
                <a:solidFill>
                  <a:srgbClr val="0D1421"/>
                </a:solidFill>
                <a:latin typeface="Calibri"/>
              </a:rPr>
              <a:t>1</a:t>
            </a:r>
            <a:endParaRPr sz="1600" dirty="0">
              <a:solidFill>
                <a:srgbClr val="0D1421"/>
              </a:solidFill>
              <a:latin typeface="Calibri"/>
            </a:endParaRPr>
          </a:p>
          <a:p>
            <a:pPr>
              <a:spcAft>
                <a:spcPts val="600"/>
              </a:spcAft>
            </a:pPr>
            <a:r>
              <a:rPr sz="1600" b="1" dirty="0">
                <a:solidFill>
                  <a:srgbClr val="4A5566"/>
                </a:solidFill>
                <a:latin typeface="Calibri"/>
              </a:rPr>
              <a:t>Problem Statement Title:  </a:t>
            </a:r>
            <a:r>
              <a:rPr sz="1600" b="1" dirty="0">
                <a:solidFill>
                  <a:srgbClr val="0D1421"/>
                </a:solidFill>
                <a:latin typeface="Calibri"/>
              </a:rPr>
              <a:t>AI-driven autonomous Building Management System</a:t>
            </a:r>
          </a:p>
          <a:p>
            <a:pPr>
              <a:spcAft>
                <a:spcPts val="600"/>
              </a:spcAft>
            </a:pPr>
            <a:r>
              <a:rPr sz="1600" b="1" dirty="0">
                <a:solidFill>
                  <a:srgbClr val="4A5566"/>
                </a:solidFill>
                <a:latin typeface="Calibri"/>
              </a:rPr>
              <a:t>Theme:  </a:t>
            </a:r>
            <a:r>
              <a:rPr sz="1600" b="1" dirty="0">
                <a:solidFill>
                  <a:srgbClr val="0D1421"/>
                </a:solidFill>
                <a:latin typeface="Calibri"/>
              </a:rPr>
              <a:t>Smart Automation / Sustainability</a:t>
            </a:r>
          </a:p>
          <a:p>
            <a:pPr>
              <a:spcAft>
                <a:spcPts val="600"/>
              </a:spcAft>
            </a:pPr>
            <a:r>
              <a:rPr sz="1600" b="1" dirty="0">
                <a:solidFill>
                  <a:srgbClr val="4A5566"/>
                </a:solidFill>
                <a:latin typeface="Calibri"/>
              </a:rPr>
              <a:t>PS Category:  </a:t>
            </a:r>
            <a:r>
              <a:rPr sz="1600" b="1" dirty="0">
                <a:solidFill>
                  <a:srgbClr val="0D1421"/>
                </a:solidFill>
                <a:latin typeface="Calibri"/>
              </a:rPr>
              <a:t>Software</a:t>
            </a:r>
          </a:p>
          <a:p>
            <a:pPr>
              <a:spcAft>
                <a:spcPts val="600"/>
              </a:spcAft>
            </a:pPr>
            <a:r>
              <a:rPr sz="1600" b="1" dirty="0">
                <a:solidFill>
                  <a:srgbClr val="4A5566"/>
                </a:solidFill>
                <a:latin typeface="Calibri"/>
              </a:rPr>
              <a:t>Team / Student Name:  </a:t>
            </a:r>
            <a:r>
              <a:rPr lang="en-US" sz="1600" b="1" dirty="0">
                <a:solidFill>
                  <a:srgbClr val="0D1421"/>
                </a:solidFill>
                <a:latin typeface="Calibri"/>
              </a:rPr>
              <a:t>Astitwa Tanmay</a:t>
            </a:r>
            <a:endParaRPr sz="1600" dirty="0">
              <a:solidFill>
                <a:srgbClr val="0D1421"/>
              </a:solidFill>
              <a:latin typeface="Calibri"/>
            </a:endParaRPr>
          </a:p>
          <a:p>
            <a:pPr>
              <a:spcAft>
                <a:spcPts val="600"/>
              </a:spcAft>
            </a:pPr>
            <a:r>
              <a:rPr sz="1600" b="1" dirty="0">
                <a:solidFill>
                  <a:srgbClr val="4A5566"/>
                </a:solidFill>
                <a:latin typeface="Calibri"/>
              </a:rPr>
              <a:t>Student ID:  </a:t>
            </a:r>
            <a:r>
              <a:rPr lang="en-US" sz="1600" b="1" dirty="0">
                <a:solidFill>
                  <a:srgbClr val="0D1421"/>
                </a:solidFill>
                <a:latin typeface="Calibri"/>
              </a:rPr>
              <a:t>1RV23cs056</a:t>
            </a:r>
            <a:endParaRPr sz="1600" dirty="0">
              <a:solidFill>
                <a:srgbClr val="0D1421"/>
              </a:solidFill>
              <a:latin typeface="Calibri"/>
            </a:endParaRPr>
          </a:p>
        </p:txBody>
      </p:sp>
      <p:pic>
        <p:nvPicPr>
          <p:cNvPr id="11" name="Picture 10" descr="digital-twin.png"/>
          <p:cNvPicPr>
            <a:picLocks noChangeAspect="1"/>
          </p:cNvPicPr>
          <p:nvPr/>
        </p:nvPicPr>
        <p:blipFill>
          <a:blip r:embed="rId3"/>
          <a:stretch>
            <a:fillRect/>
          </a:stretch>
        </p:blipFill>
        <p:spPr>
          <a:xfrm>
            <a:off x="8737600" y="3640610"/>
            <a:ext cx="3010887" cy="3054046"/>
          </a:xfrm>
          <a:prstGeom prst="rect">
            <a:avLst/>
          </a:prstGeom>
        </p:spPr>
      </p:pic>
    </p:spTree>
    <p:extLst>
      <p:ext uri="{BB962C8B-B14F-4D97-AF65-F5344CB8AC3E}">
        <p14:creationId xmlns:p14="http://schemas.microsoft.com/office/powerpoint/2010/main" val="3319884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a:xfrm>
            <a:off x="182998" y="0"/>
            <a:ext cx="10972800" cy="777240"/>
          </a:xfrm>
        </p:spPr>
        <p:txBody>
          <a:bodyPr/>
          <a:lstStyle/>
          <a:p>
            <a:pPr algn="l" eaLnBrk="1" hangingPunct="1">
              <a:spcBef>
                <a:spcPts val="0"/>
              </a:spcBef>
              <a:spcAft>
                <a:spcPts val="400"/>
              </a:spcAft>
            </a:pPr>
            <a:r>
              <a:rPr sz="3000" b="1" i="0">
                <a:solidFill>
                  <a:srgbClr val="0D1421"/>
                </a:solidFill>
                <a:latin typeface="Cambria"/>
              </a:rPr>
              <a:t>IDEA — CLOSED-LOOP AI BUILDING CONTROL</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15362" name="TextBox 15361"/>
          <p:cNvSpPr txBox="1"/>
          <p:nvPr/>
        </p:nvSpPr>
        <p:spPr>
          <a:xfrm>
            <a:off x="612648" y="1051560"/>
            <a:ext cx="10972800" cy="365760"/>
          </a:xfrm>
          <a:prstGeom prst="rect">
            <a:avLst/>
          </a:prstGeom>
          <a:noFill/>
        </p:spPr>
        <p:txBody>
          <a:bodyPr wrap="square" lIns="0" tIns="0" rIns="0" bIns="0" anchor="t">
            <a:spAutoFit/>
          </a:bodyPr>
          <a:lstStyle/>
          <a:p>
            <a:pPr algn="l">
              <a:spcBef>
                <a:spcPts val="0"/>
              </a:spcBef>
              <a:spcAft>
                <a:spcPts val="400"/>
              </a:spcAft>
            </a:pPr>
            <a:r>
              <a:rPr sz="1300" b="0" i="0">
                <a:solidFill>
                  <a:srgbClr val="4A5566"/>
                </a:solidFill>
                <a:latin typeface="Calibri"/>
              </a:rPr>
              <a:t>A supervisory AI layer over a live physics simulation — sensing, reasoning, and actuation on a real closed loop.</a:t>
            </a:r>
          </a:p>
        </p:txBody>
      </p:sp>
      <p:sp>
        <p:nvSpPr>
          <p:cNvPr id="15363" name="Rounded Rectangle 15362"/>
          <p:cNvSpPr/>
          <p:nvPr/>
        </p:nvSpPr>
        <p:spPr>
          <a:xfrm>
            <a:off x="612648" y="1600200"/>
            <a:ext cx="3520440" cy="22860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64" name="TextBox 15363"/>
          <p:cNvSpPr txBox="1"/>
          <p:nvPr/>
        </p:nvSpPr>
        <p:spPr>
          <a:xfrm>
            <a:off x="813816" y="1783080"/>
            <a:ext cx="3108960" cy="1920240"/>
          </a:xfrm>
          <a:prstGeom prst="rect">
            <a:avLst/>
          </a:prstGeom>
          <a:noFill/>
        </p:spPr>
        <p:txBody>
          <a:bodyPr wrap="square" lIns="0" tIns="0" rIns="0" bIns="0" anchor="t">
            <a:spAutoFit/>
          </a:bodyPr>
          <a:lstStyle/>
          <a:p>
            <a:pPr algn="l">
              <a:spcBef>
                <a:spcPts val="0"/>
              </a:spcBef>
              <a:spcAft>
                <a:spcPts val="600"/>
              </a:spcAft>
            </a:pPr>
            <a:r>
              <a:rPr sz="1100" b="1" i="0">
                <a:solidFill>
                  <a:srgbClr val="0D1421"/>
                </a:solidFill>
                <a:latin typeface="Calibri"/>
              </a:rPr>
              <a:t>THE PROBLEM</a:t>
            </a:r>
          </a:p>
          <a:p>
            <a:pPr algn="l">
              <a:spcBef>
                <a:spcPts val="0"/>
              </a:spcBef>
              <a:spcAft>
                <a:spcPts val="300"/>
              </a:spcAft>
            </a:pPr>
            <a:r>
              <a:rPr sz="1100" b="0" i="0">
                <a:solidFill>
                  <a:srgbClr val="4A5566"/>
                </a:solidFill>
                <a:latin typeface="Calibri"/>
              </a:rPr>
              <a:t>Buildings are ~40% of global energy use.</a:t>
            </a:r>
          </a:p>
          <a:p>
            <a:pPr algn="l">
              <a:spcBef>
                <a:spcPts val="0"/>
              </a:spcBef>
              <a:spcAft>
                <a:spcPts val="300"/>
              </a:spcAft>
            </a:pPr>
            <a:r>
              <a:rPr sz="1100" b="0" i="0">
                <a:solidFill>
                  <a:srgbClr val="4A5566"/>
                </a:solidFill>
                <a:latin typeface="Calibri"/>
              </a:rPr>
              <a:t>Fixed schedules ignore live occupancy and weather.</a:t>
            </a:r>
          </a:p>
          <a:p>
            <a:pPr algn="l">
              <a:spcBef>
                <a:spcPts val="0"/>
              </a:spcBef>
              <a:spcAft>
                <a:spcPts val="300"/>
              </a:spcAft>
            </a:pPr>
            <a:r>
              <a:rPr sz="1100" b="0" i="0">
                <a:solidFill>
                  <a:srgbClr val="4A5566"/>
                </a:solidFill>
                <a:latin typeface="Calibri"/>
              </a:rPr>
              <a:t>Our baseline building was over-cooled AND wasteful:</a:t>
            </a:r>
          </a:p>
          <a:p>
            <a:pPr algn="l">
              <a:spcBef>
                <a:spcPts val="0"/>
              </a:spcBef>
              <a:spcAft>
                <a:spcPts val="300"/>
              </a:spcAft>
            </a:pPr>
            <a:r>
              <a:rPr sz="1100" b="0" i="0">
                <a:solidFill>
                  <a:srgbClr val="4A5566"/>
                </a:solidFill>
                <a:latin typeface="Calibri"/>
              </a:rPr>
              <a:t>occupants uncomfortable 87% of occupied hours.</a:t>
            </a:r>
          </a:p>
        </p:txBody>
      </p:sp>
      <p:sp>
        <p:nvSpPr>
          <p:cNvPr id="15365" name="Rounded Rectangle 15364"/>
          <p:cNvSpPr/>
          <p:nvPr/>
        </p:nvSpPr>
        <p:spPr>
          <a:xfrm>
            <a:off x="4389120" y="1600200"/>
            <a:ext cx="3520440" cy="22860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66" name="TextBox 15365"/>
          <p:cNvSpPr txBox="1"/>
          <p:nvPr/>
        </p:nvSpPr>
        <p:spPr>
          <a:xfrm>
            <a:off x="4590288" y="1783080"/>
            <a:ext cx="3108960" cy="1377300"/>
          </a:xfrm>
          <a:prstGeom prst="rect">
            <a:avLst/>
          </a:prstGeom>
          <a:noFill/>
        </p:spPr>
        <p:txBody>
          <a:bodyPr wrap="square" lIns="0" tIns="0" rIns="0" bIns="0" anchor="t">
            <a:spAutoFit/>
          </a:bodyPr>
          <a:lstStyle/>
          <a:p>
            <a:pPr algn="l">
              <a:spcBef>
                <a:spcPts val="0"/>
              </a:spcBef>
              <a:spcAft>
                <a:spcPts val="600"/>
              </a:spcAft>
            </a:pPr>
            <a:r>
              <a:rPr sz="1100" b="1" i="0" dirty="0">
                <a:solidFill>
                  <a:srgbClr val="A81826"/>
                </a:solidFill>
                <a:latin typeface="Calibri"/>
              </a:rPr>
              <a:t>WHAT </a:t>
            </a:r>
            <a:r>
              <a:rPr lang="en-US" sz="1100" b="1" dirty="0">
                <a:solidFill>
                  <a:srgbClr val="A81826"/>
                </a:solidFill>
                <a:latin typeface="Calibri"/>
              </a:rPr>
              <a:t>I</a:t>
            </a:r>
            <a:r>
              <a:rPr sz="1100" b="1" i="0" dirty="0">
                <a:solidFill>
                  <a:srgbClr val="A81826"/>
                </a:solidFill>
                <a:latin typeface="Calibri"/>
              </a:rPr>
              <a:t> BUILT</a:t>
            </a:r>
          </a:p>
          <a:p>
            <a:pPr algn="l">
              <a:spcBef>
                <a:spcPts val="0"/>
              </a:spcBef>
              <a:spcAft>
                <a:spcPts val="300"/>
              </a:spcAft>
            </a:pPr>
            <a:r>
              <a:rPr sz="1100" b="0" i="0" dirty="0" err="1">
                <a:solidFill>
                  <a:srgbClr val="4A5566"/>
                </a:solidFill>
                <a:latin typeface="Calibri"/>
              </a:rPr>
              <a:t>EnergyPlus</a:t>
            </a:r>
            <a:r>
              <a:rPr sz="1100" b="0" i="0" dirty="0">
                <a:solidFill>
                  <a:srgbClr val="4A5566"/>
                </a:solidFill>
                <a:latin typeface="Calibri"/>
              </a:rPr>
              <a:t> runs live; the agent reads 38 sensors + 9 meters.</a:t>
            </a:r>
          </a:p>
          <a:p>
            <a:pPr algn="l">
              <a:spcBef>
                <a:spcPts val="0"/>
              </a:spcBef>
              <a:spcAft>
                <a:spcPts val="300"/>
              </a:spcAft>
            </a:pPr>
            <a:r>
              <a:rPr sz="1100" b="0" i="0" dirty="0">
                <a:solidFill>
                  <a:srgbClr val="4A5566"/>
                </a:solidFill>
                <a:latin typeface="Calibri"/>
              </a:rPr>
              <a:t>Llama 3 picks one of four actions and explains why.</a:t>
            </a:r>
          </a:p>
          <a:p>
            <a:pPr algn="l">
              <a:spcBef>
                <a:spcPts val="0"/>
              </a:spcBef>
              <a:spcAft>
                <a:spcPts val="300"/>
              </a:spcAft>
            </a:pPr>
            <a:r>
              <a:rPr sz="1100" b="0" i="0" dirty="0">
                <a:solidFill>
                  <a:srgbClr val="4A5566"/>
                </a:solidFill>
                <a:latin typeface="Calibri"/>
              </a:rPr>
              <a:t>Deterministic code turns the action into a setpoint.</a:t>
            </a:r>
          </a:p>
          <a:p>
            <a:pPr algn="l">
              <a:spcBef>
                <a:spcPts val="0"/>
              </a:spcBef>
              <a:spcAft>
                <a:spcPts val="300"/>
              </a:spcAft>
            </a:pPr>
            <a:r>
              <a:rPr sz="1100" b="0" i="0" dirty="0">
                <a:solidFill>
                  <a:srgbClr val="4A5566"/>
                </a:solidFill>
                <a:latin typeface="Calibri"/>
              </a:rPr>
              <a:t>Every command is clamped before it reaches an actuator.</a:t>
            </a:r>
          </a:p>
        </p:txBody>
      </p:sp>
      <p:sp>
        <p:nvSpPr>
          <p:cNvPr id="15367" name="Rounded Rectangle 15366"/>
          <p:cNvSpPr/>
          <p:nvPr/>
        </p:nvSpPr>
        <p:spPr>
          <a:xfrm>
            <a:off x="8165592" y="1600200"/>
            <a:ext cx="3520440" cy="22860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68" name="TextBox 15367"/>
          <p:cNvSpPr txBox="1"/>
          <p:nvPr/>
        </p:nvSpPr>
        <p:spPr>
          <a:xfrm>
            <a:off x="8366760" y="1783080"/>
            <a:ext cx="3108960" cy="1920240"/>
          </a:xfrm>
          <a:prstGeom prst="rect">
            <a:avLst/>
          </a:prstGeom>
          <a:noFill/>
        </p:spPr>
        <p:txBody>
          <a:bodyPr wrap="square" lIns="0" tIns="0" rIns="0" bIns="0" anchor="t">
            <a:spAutoFit/>
          </a:bodyPr>
          <a:lstStyle/>
          <a:p>
            <a:pPr algn="l">
              <a:spcBef>
                <a:spcPts val="0"/>
              </a:spcBef>
              <a:spcAft>
                <a:spcPts val="600"/>
              </a:spcAft>
            </a:pPr>
            <a:r>
              <a:rPr sz="1100" b="1" i="0">
                <a:solidFill>
                  <a:srgbClr val="0F7A4A"/>
                </a:solidFill>
                <a:latin typeface="Calibri"/>
              </a:rPr>
              <a:t>WHY IT IS NOVEL</a:t>
            </a:r>
          </a:p>
          <a:p>
            <a:pPr algn="l">
              <a:spcBef>
                <a:spcPts val="0"/>
              </a:spcBef>
              <a:spcAft>
                <a:spcPts val="300"/>
              </a:spcAft>
            </a:pPr>
            <a:r>
              <a:rPr sz="1100" b="0" i="0">
                <a:solidFill>
                  <a:srgbClr val="4A5566"/>
                </a:solidFill>
                <a:latin typeface="Calibri"/>
              </a:rPr>
              <a:t>The LLM never emits a number — only a labelled action.</a:t>
            </a:r>
          </a:p>
          <a:p>
            <a:pPr algn="l">
              <a:spcBef>
                <a:spcPts val="0"/>
              </a:spcBef>
              <a:spcAft>
                <a:spcPts val="300"/>
              </a:spcAft>
            </a:pPr>
            <a:r>
              <a:rPr sz="1100" b="0" i="0">
                <a:solidFill>
                  <a:srgbClr val="4A5566"/>
                </a:solidFill>
                <a:latin typeface="Calibri"/>
              </a:rPr>
              <a:t>A rule engine runs alongside as a measured baseline,</a:t>
            </a:r>
          </a:p>
          <a:p>
            <a:pPr algn="l">
              <a:spcBef>
                <a:spcPts val="0"/>
              </a:spcBef>
              <a:spcAft>
                <a:spcPts val="300"/>
              </a:spcAft>
            </a:pPr>
            <a:r>
              <a:rPr sz="1100" b="0" i="0">
                <a:solidFill>
                  <a:srgbClr val="4A5566"/>
                </a:solidFill>
                <a:latin typeface="Calibri"/>
              </a:rPr>
              <a:t>replacing fabricated “confidence” with real agreement.</a:t>
            </a:r>
          </a:p>
          <a:p>
            <a:pPr algn="l">
              <a:spcBef>
                <a:spcPts val="0"/>
              </a:spcBef>
              <a:spcAft>
                <a:spcPts val="300"/>
              </a:spcAft>
            </a:pPr>
            <a:r>
              <a:rPr sz="1100" b="0" i="0">
                <a:solidFill>
                  <a:srgbClr val="4A5566"/>
                </a:solidFill>
                <a:latin typeface="Calibri"/>
              </a:rPr>
              <a:t>Operator, agent and MCP share one safety-clamped path.</a:t>
            </a:r>
          </a:p>
        </p:txBody>
      </p:sp>
      <p:sp>
        <p:nvSpPr>
          <p:cNvPr id="15369" name="Rounded Rectangle 15368"/>
          <p:cNvSpPr/>
          <p:nvPr/>
        </p:nvSpPr>
        <p:spPr>
          <a:xfrm>
            <a:off x="612648" y="4069080"/>
            <a:ext cx="10972800" cy="178308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370" name="TextBox 15369"/>
          <p:cNvSpPr txBox="1"/>
          <p:nvPr/>
        </p:nvSpPr>
        <p:spPr>
          <a:xfrm>
            <a:off x="822960" y="4224528"/>
            <a:ext cx="10515600" cy="274320"/>
          </a:xfrm>
          <a:prstGeom prst="rect">
            <a:avLst/>
          </a:prstGeom>
          <a:noFill/>
        </p:spPr>
        <p:txBody>
          <a:bodyPr wrap="square" lIns="0" tIns="0" rIns="0" bIns="0" anchor="t">
            <a:spAutoFit/>
          </a:bodyPr>
          <a:lstStyle/>
          <a:p>
            <a:pPr algn="l">
              <a:spcBef>
                <a:spcPts val="0"/>
              </a:spcBef>
              <a:spcAft>
                <a:spcPts val="400"/>
              </a:spcAft>
            </a:pPr>
            <a:r>
              <a:rPr sz="1000" b="1" i="0">
                <a:solidFill>
                  <a:srgbClr val="6B7789"/>
                </a:solidFill>
                <a:latin typeface="Calibri"/>
              </a:rPr>
              <a:t>THE AUTONOMOUS LOOP — VISIBLE ON THE DASHBOARD AT ALL TIMES</a:t>
            </a:r>
          </a:p>
        </p:txBody>
      </p:sp>
      <p:sp>
        <p:nvSpPr>
          <p:cNvPr id="15371" name="Rounded Rectangle 15370"/>
          <p:cNvSpPr/>
          <p:nvPr/>
        </p:nvSpPr>
        <p:spPr>
          <a:xfrm>
            <a:off x="822960" y="4572000"/>
            <a:ext cx="1572768" cy="105156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0D1421"/>
                </a:solidFill>
                <a:latin typeface="Calibri"/>
              </a:rPr>
              <a:t>OBSERVE</a:t>
            </a:r>
          </a:p>
          <a:p>
            <a:pPr algn="ctr">
              <a:spcBef>
                <a:spcPts val="0"/>
              </a:spcBef>
              <a:spcAft>
                <a:spcPts val="0"/>
              </a:spcAft>
            </a:pPr>
            <a:r>
              <a:rPr sz="900" b="0" i="0">
                <a:solidFill>
                  <a:srgbClr val="4A5566"/>
                </a:solidFill>
                <a:latin typeface="Calibri"/>
              </a:rPr>
              <a:t>38 sensors</a:t>
            </a:r>
          </a:p>
          <a:p>
            <a:pPr algn="ctr">
              <a:spcBef>
                <a:spcPts val="0"/>
              </a:spcBef>
              <a:spcAft>
                <a:spcPts val="0"/>
              </a:spcAft>
            </a:pPr>
            <a:r>
              <a:rPr sz="900" b="0" i="0">
                <a:solidFill>
                  <a:srgbClr val="4A5566"/>
                </a:solidFill>
                <a:latin typeface="Calibri"/>
              </a:rPr>
              <a:t>9 meters</a:t>
            </a:r>
          </a:p>
        </p:txBody>
      </p:sp>
      <p:sp>
        <p:nvSpPr>
          <p:cNvPr id="15372" name="Right Arrow 15371"/>
          <p:cNvSpPr/>
          <p:nvPr/>
        </p:nvSpPr>
        <p:spPr>
          <a:xfrm>
            <a:off x="2423160" y="5001768"/>
            <a:ext cx="164592" cy="182880"/>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3" name="Rounded Rectangle 15372"/>
          <p:cNvSpPr/>
          <p:nvPr/>
        </p:nvSpPr>
        <p:spPr>
          <a:xfrm>
            <a:off x="2615184" y="4572000"/>
            <a:ext cx="1572768" cy="1051560"/>
          </a:xfrm>
          <a:prstGeom prst="roundRect">
            <a:avLst>
              <a:gd name="adj" fmla="val 6000"/>
            </a:avLst>
          </a:prstGeom>
          <a:solidFill>
            <a:srgbClr val="FDEAEC"/>
          </a:solidFill>
          <a:ln w="9525">
            <a:solidFill>
              <a:srgbClr val="D0202F"/>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A81826"/>
                </a:solidFill>
                <a:latin typeface="Calibri"/>
              </a:rPr>
              <a:t>REASON</a:t>
            </a:r>
          </a:p>
          <a:p>
            <a:pPr algn="ctr">
              <a:spcBef>
                <a:spcPts val="0"/>
              </a:spcBef>
              <a:spcAft>
                <a:spcPts val="0"/>
              </a:spcAft>
            </a:pPr>
            <a:r>
              <a:rPr sz="900" b="0" i="0">
                <a:solidFill>
                  <a:srgbClr val="4A5566"/>
                </a:solidFill>
                <a:latin typeface="Calibri"/>
              </a:rPr>
              <a:t>Llama 3</a:t>
            </a:r>
          </a:p>
          <a:p>
            <a:pPr algn="ctr">
              <a:spcBef>
                <a:spcPts val="0"/>
              </a:spcBef>
              <a:spcAft>
                <a:spcPts val="0"/>
              </a:spcAft>
            </a:pPr>
            <a:r>
              <a:rPr sz="900" b="0" i="0">
                <a:solidFill>
                  <a:srgbClr val="4A5566"/>
                </a:solidFill>
                <a:latin typeface="Calibri"/>
              </a:rPr>
              <a:t>~5.6 s</a:t>
            </a:r>
          </a:p>
        </p:txBody>
      </p:sp>
      <p:sp>
        <p:nvSpPr>
          <p:cNvPr id="15374" name="Right Arrow 15373"/>
          <p:cNvSpPr/>
          <p:nvPr/>
        </p:nvSpPr>
        <p:spPr>
          <a:xfrm>
            <a:off x="4215384" y="5001768"/>
            <a:ext cx="164592" cy="182880"/>
          </a:xfrm>
          <a:prstGeom prst="rightArrow">
            <a:avLst/>
          </a:prstGeom>
          <a:solidFill>
            <a:srgbClr val="D0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5" name="Rounded Rectangle 15374"/>
          <p:cNvSpPr/>
          <p:nvPr/>
        </p:nvSpPr>
        <p:spPr>
          <a:xfrm>
            <a:off x="4407408" y="4572000"/>
            <a:ext cx="1572768" cy="105156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0D1421"/>
                </a:solidFill>
                <a:latin typeface="Calibri"/>
              </a:rPr>
              <a:t>DECIDE</a:t>
            </a:r>
          </a:p>
          <a:p>
            <a:pPr algn="ctr">
              <a:spcBef>
                <a:spcPts val="0"/>
              </a:spcBef>
              <a:spcAft>
                <a:spcPts val="0"/>
              </a:spcAft>
            </a:pPr>
            <a:r>
              <a:rPr sz="900" b="0" i="0">
                <a:solidFill>
                  <a:srgbClr val="4A5566"/>
                </a:solidFill>
                <a:latin typeface="Calibri"/>
              </a:rPr>
              <a:t>1 of 4</a:t>
            </a:r>
          </a:p>
          <a:p>
            <a:pPr algn="ctr">
              <a:spcBef>
                <a:spcPts val="0"/>
              </a:spcBef>
              <a:spcAft>
                <a:spcPts val="0"/>
              </a:spcAft>
            </a:pPr>
            <a:r>
              <a:rPr sz="900" b="0" i="0">
                <a:solidFill>
                  <a:srgbClr val="4A5566"/>
                </a:solidFill>
                <a:latin typeface="Calibri"/>
              </a:rPr>
              <a:t>actions</a:t>
            </a:r>
          </a:p>
        </p:txBody>
      </p:sp>
      <p:sp>
        <p:nvSpPr>
          <p:cNvPr id="15376" name="Right Arrow 15375"/>
          <p:cNvSpPr/>
          <p:nvPr/>
        </p:nvSpPr>
        <p:spPr>
          <a:xfrm>
            <a:off x="6007608" y="5001768"/>
            <a:ext cx="164592" cy="182880"/>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7" name="Rounded Rectangle 15376"/>
          <p:cNvSpPr/>
          <p:nvPr/>
        </p:nvSpPr>
        <p:spPr>
          <a:xfrm>
            <a:off x="6199632" y="4572000"/>
            <a:ext cx="1572768" cy="1051560"/>
          </a:xfrm>
          <a:prstGeom prst="roundRect">
            <a:avLst>
              <a:gd name="adj" fmla="val 6000"/>
            </a:avLst>
          </a:prstGeom>
          <a:solidFill>
            <a:srgbClr val="FDEAEC"/>
          </a:solidFill>
          <a:ln w="9525">
            <a:solidFill>
              <a:srgbClr val="D0202F"/>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A81826"/>
                </a:solidFill>
                <a:latin typeface="Calibri"/>
              </a:rPr>
              <a:t>VALIDATE</a:t>
            </a:r>
          </a:p>
          <a:p>
            <a:pPr algn="ctr">
              <a:spcBef>
                <a:spcPts val="0"/>
              </a:spcBef>
              <a:spcAft>
                <a:spcPts val="0"/>
              </a:spcAft>
            </a:pPr>
            <a:r>
              <a:rPr sz="900" b="0" i="0">
                <a:solidFill>
                  <a:srgbClr val="4A5566"/>
                </a:solidFill>
                <a:latin typeface="Calibri"/>
              </a:rPr>
              <a:t>Safety</a:t>
            </a:r>
          </a:p>
          <a:p>
            <a:pPr algn="ctr">
              <a:spcBef>
                <a:spcPts val="0"/>
              </a:spcBef>
              <a:spcAft>
                <a:spcPts val="0"/>
              </a:spcAft>
            </a:pPr>
            <a:r>
              <a:rPr sz="900" b="0" i="0">
                <a:solidFill>
                  <a:srgbClr val="4A5566"/>
                </a:solidFill>
                <a:latin typeface="Calibri"/>
              </a:rPr>
              <a:t>envelope</a:t>
            </a:r>
          </a:p>
        </p:txBody>
      </p:sp>
      <p:sp>
        <p:nvSpPr>
          <p:cNvPr id="15378" name="Right Arrow 15377"/>
          <p:cNvSpPr/>
          <p:nvPr/>
        </p:nvSpPr>
        <p:spPr>
          <a:xfrm>
            <a:off x="7799831" y="5001768"/>
            <a:ext cx="164592" cy="182880"/>
          </a:xfrm>
          <a:prstGeom prst="rightArrow">
            <a:avLst/>
          </a:prstGeom>
          <a:solidFill>
            <a:srgbClr val="D020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79" name="Rounded Rectangle 15378"/>
          <p:cNvSpPr/>
          <p:nvPr/>
        </p:nvSpPr>
        <p:spPr>
          <a:xfrm>
            <a:off x="7991856" y="4572000"/>
            <a:ext cx="1572768" cy="105156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0D1421"/>
                </a:solidFill>
                <a:latin typeface="Calibri"/>
              </a:rPr>
              <a:t>ACT</a:t>
            </a:r>
          </a:p>
          <a:p>
            <a:pPr algn="ctr">
              <a:spcBef>
                <a:spcPts val="0"/>
              </a:spcBef>
              <a:spcAft>
                <a:spcPts val="0"/>
              </a:spcAft>
            </a:pPr>
            <a:r>
              <a:rPr sz="900" b="0" i="0">
                <a:solidFill>
                  <a:srgbClr val="4A5566"/>
                </a:solidFill>
                <a:latin typeface="Calibri"/>
              </a:rPr>
              <a:t>Actuators</a:t>
            </a:r>
          </a:p>
          <a:p>
            <a:pPr algn="ctr">
              <a:spcBef>
                <a:spcPts val="0"/>
              </a:spcBef>
              <a:spcAft>
                <a:spcPts val="0"/>
              </a:spcAft>
            </a:pPr>
            <a:r>
              <a:rPr sz="900" b="0" i="0">
                <a:solidFill>
                  <a:srgbClr val="4A5566"/>
                </a:solidFill>
                <a:latin typeface="Calibri"/>
              </a:rPr>
              <a:t>written</a:t>
            </a:r>
          </a:p>
        </p:txBody>
      </p:sp>
      <p:sp>
        <p:nvSpPr>
          <p:cNvPr id="15380" name="Right Arrow 15379"/>
          <p:cNvSpPr/>
          <p:nvPr/>
        </p:nvSpPr>
        <p:spPr>
          <a:xfrm>
            <a:off x="9592056" y="5001768"/>
            <a:ext cx="164592" cy="182880"/>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381" name="Rounded Rectangle 15380"/>
          <p:cNvSpPr/>
          <p:nvPr/>
        </p:nvSpPr>
        <p:spPr>
          <a:xfrm>
            <a:off x="9784080" y="4572000"/>
            <a:ext cx="1572768" cy="105156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lIns="45720" tIns="64008" rIns="45720" rtlCol="0" anchor="ctr"/>
          <a:lstStyle/>
          <a:p>
            <a:pPr algn="ctr">
              <a:spcBef>
                <a:spcPts val="0"/>
              </a:spcBef>
              <a:spcAft>
                <a:spcPts val="200"/>
              </a:spcAft>
            </a:pPr>
            <a:r>
              <a:rPr sz="1100" b="1" i="0">
                <a:solidFill>
                  <a:srgbClr val="0D1421"/>
                </a:solidFill>
                <a:latin typeface="Calibri"/>
              </a:rPr>
              <a:t>RESPOND</a:t>
            </a:r>
          </a:p>
          <a:p>
            <a:pPr algn="ctr">
              <a:spcBef>
                <a:spcPts val="0"/>
              </a:spcBef>
              <a:spcAft>
                <a:spcPts val="0"/>
              </a:spcAft>
            </a:pPr>
            <a:r>
              <a:rPr sz="900" b="0" i="0">
                <a:solidFill>
                  <a:srgbClr val="4A5566"/>
                </a:solidFill>
                <a:latin typeface="Calibri"/>
              </a:rPr>
              <a:t>Building</a:t>
            </a:r>
          </a:p>
          <a:p>
            <a:pPr algn="ctr">
              <a:spcBef>
                <a:spcPts val="0"/>
              </a:spcBef>
              <a:spcAft>
                <a:spcPts val="0"/>
              </a:spcAft>
            </a:pPr>
            <a:r>
              <a:rPr sz="900" b="0" i="0">
                <a:solidFill>
                  <a:srgbClr val="4A5566"/>
                </a:solidFill>
                <a:latin typeface="Calibri"/>
              </a:rPr>
              <a:t>reacts</a:t>
            </a:r>
          </a:p>
        </p:txBody>
      </p:sp>
      <p:sp>
        <p:nvSpPr>
          <p:cNvPr id="15382" name="TextBox 15381"/>
          <p:cNvSpPr txBox="1"/>
          <p:nvPr/>
        </p:nvSpPr>
        <p:spPr>
          <a:xfrm>
            <a:off x="822960" y="5650992"/>
            <a:ext cx="10515600" cy="228600"/>
          </a:xfrm>
          <a:prstGeom prst="rect">
            <a:avLst/>
          </a:prstGeom>
          <a:noFill/>
        </p:spPr>
        <p:txBody>
          <a:bodyPr wrap="square" lIns="0" tIns="0" rIns="0" bIns="0" anchor="t">
            <a:spAutoFit/>
          </a:bodyPr>
          <a:lstStyle/>
          <a:p>
            <a:pPr algn="l">
              <a:spcBef>
                <a:spcPts val="0"/>
              </a:spcBef>
              <a:spcAft>
                <a:spcPts val="400"/>
              </a:spcAft>
            </a:pPr>
            <a:r>
              <a:rPr sz="1000" b="0" i="1">
                <a:solidFill>
                  <a:srgbClr val="6B7789"/>
                </a:solidFill>
                <a:latin typeface="Calibri"/>
              </a:rPr>
              <a:t>RESPOND feeds the next OBSERVE — control writes back into EnergyPlus, so the loop is genuinely closed.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47625"/>
            <a:ext cx="10972800" cy="777240"/>
          </a:xfrm>
        </p:spPr>
        <p:txBody>
          <a:bodyPr/>
          <a:lstStyle/>
          <a:p>
            <a:pPr algn="l" eaLnBrk="1" hangingPunct="1">
              <a:spcBef>
                <a:spcPts val="0"/>
              </a:spcBef>
              <a:spcAft>
                <a:spcPts val="400"/>
              </a:spcAft>
            </a:pPr>
            <a:r>
              <a:rPr sz="3000" b="1" i="0">
                <a:solidFill>
                  <a:srgbClr val="0D1421"/>
                </a:solidFill>
                <a:latin typeface="Cambria"/>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17410" name="TextBox 17409"/>
          <p:cNvSpPr txBox="1"/>
          <p:nvPr/>
        </p:nvSpPr>
        <p:spPr>
          <a:xfrm>
            <a:off x="612648" y="1005840"/>
            <a:ext cx="10972800" cy="320040"/>
          </a:xfrm>
          <a:prstGeom prst="rect">
            <a:avLst/>
          </a:prstGeom>
          <a:noFill/>
        </p:spPr>
        <p:txBody>
          <a:bodyPr wrap="square" lIns="0" tIns="0" rIns="0" bIns="0" anchor="t">
            <a:spAutoFit/>
          </a:bodyPr>
          <a:lstStyle/>
          <a:p>
            <a:pPr algn="l">
              <a:spcBef>
                <a:spcPts val="0"/>
              </a:spcBef>
              <a:spcAft>
                <a:spcPts val="400"/>
              </a:spcAft>
            </a:pPr>
            <a:r>
              <a:rPr sz="1200" b="0" i="0">
                <a:solidFill>
                  <a:srgbClr val="4A5566"/>
                </a:solidFill>
                <a:latin typeface="Calibri"/>
              </a:rPr>
              <a:t>Ports-and-adapters: the agent and the dashboard talk to a service layer, never to the simulation.</a:t>
            </a:r>
          </a:p>
        </p:txBody>
      </p:sp>
      <p:sp>
        <p:nvSpPr>
          <p:cNvPr id="17411" name="Rounded Rectangle 17410"/>
          <p:cNvSpPr/>
          <p:nvPr/>
        </p:nvSpPr>
        <p:spPr>
          <a:xfrm>
            <a:off x="612648" y="1463040"/>
            <a:ext cx="5029200" cy="566928"/>
          </a:xfrm>
          <a:prstGeom prst="roundRect">
            <a:avLst>
              <a:gd name="adj" fmla="val 6000"/>
            </a:avLst>
          </a:prstGeom>
          <a:solidFill>
            <a:srgbClr val="FDEAEC"/>
          </a:solidFill>
          <a:ln w="9525">
            <a:solidFill>
              <a:srgbClr val="D020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2" name="TextBox 17411"/>
          <p:cNvSpPr txBox="1"/>
          <p:nvPr/>
        </p:nvSpPr>
        <p:spPr>
          <a:xfrm>
            <a:off x="777240" y="1527048"/>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A81826"/>
                </a:solidFill>
                <a:latin typeface="Calibri"/>
              </a:rPr>
              <a:t>EnergyPlus 26.1</a:t>
            </a:r>
          </a:p>
          <a:p>
            <a:pPr algn="l">
              <a:spcBef>
                <a:spcPts val="0"/>
              </a:spcBef>
              <a:spcAft>
                <a:spcPts val="0"/>
              </a:spcAft>
            </a:pPr>
            <a:r>
              <a:rPr sz="900" b="0" i="0">
                <a:solidFill>
                  <a:srgbClr val="4A5566"/>
                </a:solidFill>
                <a:latin typeface="Calibri"/>
              </a:rPr>
              <a:t>Annual run · 15-min timesteps   ·   pyenergyplus C API, own thread</a:t>
            </a:r>
          </a:p>
        </p:txBody>
      </p:sp>
      <p:sp>
        <p:nvSpPr>
          <p:cNvPr id="17413" name="Right Arrow 17412"/>
          <p:cNvSpPr/>
          <p:nvPr/>
        </p:nvSpPr>
        <p:spPr>
          <a:xfrm>
            <a:off x="3035808" y="2034540"/>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4" name="Rounded Rectangle 17413"/>
          <p:cNvSpPr/>
          <p:nvPr/>
        </p:nvSpPr>
        <p:spPr>
          <a:xfrm>
            <a:off x="612648" y="2112264"/>
            <a:ext cx="5029200" cy="566928"/>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5" name="TextBox 17414"/>
          <p:cNvSpPr txBox="1"/>
          <p:nvPr/>
        </p:nvSpPr>
        <p:spPr>
          <a:xfrm>
            <a:off x="777240" y="2176272"/>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0D1421"/>
                </a:solidFill>
                <a:latin typeface="Calibri"/>
              </a:rPr>
              <a:t>Sensor collector</a:t>
            </a:r>
          </a:p>
          <a:p>
            <a:pPr algn="l">
              <a:spcBef>
                <a:spcPts val="0"/>
              </a:spcBef>
              <a:spcAft>
                <a:spcPts val="0"/>
              </a:spcAft>
            </a:pPr>
            <a:r>
              <a:rPr sz="900" b="0" i="0">
                <a:solidFill>
                  <a:srgbClr val="4A5566"/>
                </a:solidFill>
                <a:latin typeface="Calibri"/>
              </a:rPr>
              <a:t>38 output variables, 9 meters   ·   Handles resolved once, cached</a:t>
            </a:r>
          </a:p>
        </p:txBody>
      </p:sp>
      <p:sp>
        <p:nvSpPr>
          <p:cNvPr id="17416" name="Right Arrow 17415"/>
          <p:cNvSpPr/>
          <p:nvPr/>
        </p:nvSpPr>
        <p:spPr>
          <a:xfrm>
            <a:off x="3035808" y="2683764"/>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17" name="Rounded Rectangle 17416"/>
          <p:cNvSpPr/>
          <p:nvPr/>
        </p:nvSpPr>
        <p:spPr>
          <a:xfrm>
            <a:off x="612648" y="2761488"/>
            <a:ext cx="5029200" cy="566928"/>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8" name="TextBox 17417"/>
          <p:cNvSpPr txBox="1"/>
          <p:nvPr/>
        </p:nvSpPr>
        <p:spPr>
          <a:xfrm>
            <a:off x="777240" y="2825496"/>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0D1421"/>
                </a:solidFill>
                <a:latin typeface="Calibri"/>
              </a:rPr>
              <a:t>Shared state</a:t>
            </a:r>
          </a:p>
          <a:p>
            <a:pPr algn="l">
              <a:spcBef>
                <a:spcPts val="0"/>
              </a:spcBef>
              <a:spcAft>
                <a:spcPts val="0"/>
              </a:spcAft>
            </a:pPr>
            <a:r>
              <a:rPr sz="900" b="0" i="0">
                <a:solidFill>
                  <a:srgbClr val="4A5566"/>
                </a:solidFill>
                <a:latin typeface="Calibri"/>
              </a:rPr>
              <a:t>Immutable snapshots   ·   Sequence-numbered, lock-free reads</a:t>
            </a:r>
          </a:p>
        </p:txBody>
      </p:sp>
      <p:sp>
        <p:nvSpPr>
          <p:cNvPr id="17419" name="Right Arrow 17418"/>
          <p:cNvSpPr/>
          <p:nvPr/>
        </p:nvSpPr>
        <p:spPr>
          <a:xfrm>
            <a:off x="3035808" y="3332988"/>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0" name="Rounded Rectangle 17419"/>
          <p:cNvSpPr/>
          <p:nvPr/>
        </p:nvSpPr>
        <p:spPr>
          <a:xfrm>
            <a:off x="612648" y="3410712"/>
            <a:ext cx="5029200" cy="566928"/>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21" name="TextBox 17420"/>
          <p:cNvSpPr txBox="1"/>
          <p:nvPr/>
        </p:nvSpPr>
        <p:spPr>
          <a:xfrm>
            <a:off x="777240" y="3474720"/>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0D1421"/>
                </a:solidFill>
                <a:latin typeface="Calibri"/>
              </a:rPr>
              <a:t>Processing</a:t>
            </a:r>
          </a:p>
          <a:p>
            <a:pPr algn="l">
              <a:spcBef>
                <a:spcPts val="0"/>
              </a:spcBef>
              <a:spcAft>
                <a:spcPts val="0"/>
              </a:spcAft>
            </a:pPr>
            <a:r>
              <a:rPr sz="900" b="0" i="0">
                <a:solidFill>
                  <a:srgbClr val="4A5566"/>
                </a:solidFill>
                <a:latin typeface="Calibri"/>
              </a:rPr>
              <a:t>PMV (ISO 7730) · CO₂ mass balance   ·   End-use power breakdown</a:t>
            </a:r>
          </a:p>
        </p:txBody>
      </p:sp>
      <p:sp>
        <p:nvSpPr>
          <p:cNvPr id="17422" name="Right Arrow 17421"/>
          <p:cNvSpPr/>
          <p:nvPr/>
        </p:nvSpPr>
        <p:spPr>
          <a:xfrm>
            <a:off x="3035808" y="3982211"/>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3" name="Rounded Rectangle 17422"/>
          <p:cNvSpPr/>
          <p:nvPr/>
        </p:nvSpPr>
        <p:spPr>
          <a:xfrm>
            <a:off x="612648" y="4059935"/>
            <a:ext cx="5029200" cy="566928"/>
          </a:xfrm>
          <a:prstGeom prst="roundRect">
            <a:avLst>
              <a:gd name="adj" fmla="val 6000"/>
            </a:avLst>
          </a:prstGeom>
          <a:solidFill>
            <a:srgbClr val="FDEAEC"/>
          </a:solidFill>
          <a:ln w="9525">
            <a:solidFill>
              <a:srgbClr val="D020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24" name="TextBox 17423"/>
          <p:cNvSpPr txBox="1"/>
          <p:nvPr/>
        </p:nvSpPr>
        <p:spPr>
          <a:xfrm>
            <a:off x="777240" y="4123944"/>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A81826"/>
                </a:solidFill>
                <a:latin typeface="Calibri"/>
              </a:rPr>
              <a:t>Policy layer</a:t>
            </a:r>
          </a:p>
          <a:p>
            <a:pPr algn="l">
              <a:spcBef>
                <a:spcPts val="0"/>
              </a:spcBef>
              <a:spcAft>
                <a:spcPts val="0"/>
              </a:spcAft>
            </a:pPr>
            <a:r>
              <a:rPr sz="900" b="0" i="0">
                <a:solidFill>
                  <a:srgbClr val="4A5566"/>
                </a:solidFill>
                <a:latin typeface="Calibri"/>
              </a:rPr>
              <a:t>Llama 3 via Ollama, JSON mode, T=0   ·   Rule engine as baseline + fallback</a:t>
            </a:r>
          </a:p>
        </p:txBody>
      </p:sp>
      <p:sp>
        <p:nvSpPr>
          <p:cNvPr id="17425" name="Right Arrow 17424"/>
          <p:cNvSpPr/>
          <p:nvPr/>
        </p:nvSpPr>
        <p:spPr>
          <a:xfrm>
            <a:off x="3035808" y="4631436"/>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6" name="Rounded Rectangle 17425"/>
          <p:cNvSpPr/>
          <p:nvPr/>
        </p:nvSpPr>
        <p:spPr>
          <a:xfrm>
            <a:off x="612648" y="4709160"/>
            <a:ext cx="5029200" cy="566928"/>
          </a:xfrm>
          <a:prstGeom prst="roundRect">
            <a:avLst>
              <a:gd name="adj" fmla="val 6000"/>
            </a:avLst>
          </a:prstGeom>
          <a:solidFill>
            <a:srgbClr val="FDEAEC"/>
          </a:solidFill>
          <a:ln w="9525">
            <a:solidFill>
              <a:srgbClr val="D0202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27" name="TextBox 17426"/>
          <p:cNvSpPr txBox="1"/>
          <p:nvPr/>
        </p:nvSpPr>
        <p:spPr>
          <a:xfrm>
            <a:off x="777240" y="4773168"/>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A81826"/>
                </a:solidFill>
                <a:latin typeface="Calibri"/>
              </a:rPr>
              <a:t>Decision engine</a:t>
            </a:r>
          </a:p>
          <a:p>
            <a:pPr algn="l">
              <a:spcBef>
                <a:spcPts val="0"/>
              </a:spcBef>
              <a:spcAft>
                <a:spcPts val="0"/>
              </a:spcAft>
            </a:pPr>
            <a:r>
              <a:rPr sz="900" b="0" i="0">
                <a:solidFill>
                  <a:srgbClr val="4A5566"/>
                </a:solidFill>
                <a:latin typeface="Calibri"/>
              </a:rPr>
              <a:t>Bounds · deadband · rate limit   ·   One ControlStore for every caller</a:t>
            </a:r>
          </a:p>
        </p:txBody>
      </p:sp>
      <p:sp>
        <p:nvSpPr>
          <p:cNvPr id="17428" name="Right Arrow 17427"/>
          <p:cNvSpPr/>
          <p:nvPr/>
        </p:nvSpPr>
        <p:spPr>
          <a:xfrm>
            <a:off x="3035808" y="5280660"/>
            <a:ext cx="182880" cy="73152"/>
          </a:xfrm>
          <a:prstGeom prst="rightArrow">
            <a:avLst/>
          </a:prstGeom>
          <a:solidFill>
            <a:srgbClr val="D3D9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429" name="Rounded Rectangle 17428"/>
          <p:cNvSpPr/>
          <p:nvPr/>
        </p:nvSpPr>
        <p:spPr>
          <a:xfrm>
            <a:off x="612648" y="5358383"/>
            <a:ext cx="5029200" cy="566928"/>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30" name="TextBox 17429"/>
          <p:cNvSpPr txBox="1"/>
          <p:nvPr/>
        </p:nvSpPr>
        <p:spPr>
          <a:xfrm>
            <a:off x="777240" y="5422392"/>
            <a:ext cx="4663440" cy="475488"/>
          </a:xfrm>
          <a:prstGeom prst="rect">
            <a:avLst/>
          </a:prstGeom>
          <a:noFill/>
        </p:spPr>
        <p:txBody>
          <a:bodyPr wrap="square" lIns="0" tIns="0" rIns="0" bIns="0" anchor="t">
            <a:spAutoFit/>
          </a:bodyPr>
          <a:lstStyle/>
          <a:p>
            <a:pPr algn="l">
              <a:spcBef>
                <a:spcPts val="0"/>
              </a:spcBef>
              <a:spcAft>
                <a:spcPts val="100"/>
              </a:spcAft>
            </a:pPr>
            <a:r>
              <a:rPr sz="1150" b="1" i="0">
                <a:solidFill>
                  <a:srgbClr val="0D1421"/>
                </a:solidFill>
                <a:latin typeface="Calibri"/>
              </a:rPr>
              <a:t>Control</a:t>
            </a:r>
          </a:p>
          <a:p>
            <a:pPr algn="l">
              <a:spcBef>
                <a:spcPts val="0"/>
              </a:spcBef>
              <a:spcAft>
                <a:spcPts val="0"/>
              </a:spcAft>
            </a:pPr>
            <a:r>
              <a:rPr sz="900" b="0" i="0">
                <a:solidFill>
                  <a:srgbClr val="4A5566"/>
                </a:solidFill>
                <a:latin typeface="Calibri"/>
              </a:rPr>
              <a:t>Actuators written before the predictor   ·   Closes the loop into EnergyPlus</a:t>
            </a:r>
          </a:p>
        </p:txBody>
      </p:sp>
      <p:sp>
        <p:nvSpPr>
          <p:cNvPr id="17431" name="TextBox 17430"/>
          <p:cNvSpPr txBox="1"/>
          <p:nvPr/>
        </p:nvSpPr>
        <p:spPr>
          <a:xfrm>
            <a:off x="612648" y="5943600"/>
            <a:ext cx="5029200" cy="274320"/>
          </a:xfrm>
          <a:prstGeom prst="rect">
            <a:avLst/>
          </a:prstGeom>
          <a:noFill/>
        </p:spPr>
        <p:txBody>
          <a:bodyPr wrap="square" lIns="0" tIns="0" rIns="0" bIns="0" anchor="t">
            <a:spAutoFit/>
          </a:bodyPr>
          <a:lstStyle/>
          <a:p>
            <a:pPr algn="l">
              <a:spcBef>
                <a:spcPts val="0"/>
              </a:spcBef>
              <a:spcAft>
                <a:spcPts val="400"/>
              </a:spcAft>
            </a:pPr>
            <a:r>
              <a:rPr sz="1000" b="1" i="0">
                <a:solidFill>
                  <a:srgbClr val="A81826"/>
                </a:solidFill>
                <a:latin typeface="Calibri"/>
              </a:rPr>
              <a:t>↳ Control writes back into EnergyPlus — the loop is closed</a:t>
            </a:r>
          </a:p>
        </p:txBody>
      </p:sp>
      <p:sp>
        <p:nvSpPr>
          <p:cNvPr id="17432" name="Rounded Rectangle 17431"/>
          <p:cNvSpPr/>
          <p:nvPr/>
        </p:nvSpPr>
        <p:spPr>
          <a:xfrm>
            <a:off x="5943600" y="1463040"/>
            <a:ext cx="5641848" cy="214884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33" name="TextBox 17432"/>
          <p:cNvSpPr txBox="1"/>
          <p:nvPr/>
        </p:nvSpPr>
        <p:spPr>
          <a:xfrm>
            <a:off x="6144768" y="1600200"/>
            <a:ext cx="5257800" cy="1920240"/>
          </a:xfrm>
          <a:prstGeom prst="rect">
            <a:avLst/>
          </a:prstGeom>
          <a:noFill/>
        </p:spPr>
        <p:txBody>
          <a:bodyPr wrap="square" lIns="0" tIns="0" rIns="0" bIns="0" anchor="t">
            <a:spAutoFit/>
          </a:bodyPr>
          <a:lstStyle/>
          <a:p>
            <a:pPr algn="l">
              <a:spcBef>
                <a:spcPts val="0"/>
              </a:spcBef>
              <a:spcAft>
                <a:spcPts val="600"/>
              </a:spcAft>
            </a:pPr>
            <a:r>
              <a:rPr sz="1000" b="1" i="0">
                <a:solidFill>
                  <a:srgbClr val="6B7789"/>
                </a:solidFill>
                <a:latin typeface="Calibri"/>
              </a:rPr>
              <a:t>STACK</a:t>
            </a:r>
          </a:p>
          <a:p>
            <a:pPr>
              <a:spcAft>
                <a:spcPts val="400"/>
              </a:spcAft>
            </a:pPr>
            <a:r>
              <a:rPr sz="1000" b="1">
                <a:solidFill>
                  <a:srgbClr val="0D1421"/>
                </a:solidFill>
                <a:latin typeface="Calibri"/>
              </a:rPr>
              <a:t>Simulation   </a:t>
            </a:r>
            <a:r>
              <a:rPr sz="1000">
                <a:solidFill>
                  <a:srgbClr val="4A5566"/>
                </a:solidFill>
                <a:latin typeface="Calibri"/>
              </a:rPr>
              <a:t>EnergyPlus 26.1 · pyenergyplus · 5ZoneAirCooled.idf</a:t>
            </a:r>
          </a:p>
          <a:p>
            <a:pPr>
              <a:spcAft>
                <a:spcPts val="400"/>
              </a:spcAft>
            </a:pPr>
            <a:r>
              <a:rPr sz="1000" b="1">
                <a:solidFill>
                  <a:srgbClr val="0D1421"/>
                </a:solidFill>
                <a:latin typeface="Calibri"/>
              </a:rPr>
              <a:t>Backend   </a:t>
            </a:r>
            <a:r>
              <a:rPr sz="1000">
                <a:solidFill>
                  <a:srgbClr val="4A5566"/>
                </a:solidFill>
                <a:latin typeface="Calibri"/>
              </a:rPr>
              <a:t>Python 3.10 · FastAPI · WebSocket · 201 tests</a:t>
            </a:r>
          </a:p>
          <a:p>
            <a:pPr>
              <a:spcAft>
                <a:spcPts val="400"/>
              </a:spcAft>
            </a:pPr>
            <a:r>
              <a:rPr sz="1000" b="1">
                <a:solidFill>
                  <a:srgbClr val="0D1421"/>
                </a:solidFill>
                <a:latin typeface="Calibri"/>
              </a:rPr>
              <a:t>AI   </a:t>
            </a:r>
            <a:r>
              <a:rPr sz="1000">
                <a:solidFill>
                  <a:srgbClr val="4A5566"/>
                </a:solidFill>
                <a:latin typeface="Calibri"/>
              </a:rPr>
              <a:t>Ollama · Llama 3 8B · JSON-constrained, temperature 0</a:t>
            </a:r>
          </a:p>
          <a:p>
            <a:pPr>
              <a:spcAft>
                <a:spcPts val="400"/>
              </a:spcAft>
            </a:pPr>
            <a:r>
              <a:rPr sz="1000" b="1">
                <a:solidFill>
                  <a:srgbClr val="0D1421"/>
                </a:solidFill>
                <a:latin typeface="Calibri"/>
              </a:rPr>
              <a:t>Agent interface   </a:t>
            </a:r>
            <a:r>
              <a:rPr sz="1000">
                <a:solidFill>
                  <a:srgbClr val="4A5566"/>
                </a:solidFill>
                <a:latin typeface="Calibri"/>
              </a:rPr>
              <a:t>Model Context Protocol — 6 tools over stdio</a:t>
            </a:r>
          </a:p>
          <a:p>
            <a:pPr>
              <a:spcAft>
                <a:spcPts val="400"/>
              </a:spcAft>
            </a:pPr>
            <a:r>
              <a:rPr sz="1000" b="1">
                <a:solidFill>
                  <a:srgbClr val="0D1421"/>
                </a:solidFill>
                <a:latin typeface="Calibri"/>
              </a:rPr>
              <a:t>Frontend   </a:t>
            </a:r>
            <a:r>
              <a:rPr sz="1000">
                <a:solidFill>
                  <a:srgbClr val="4A5566"/>
                </a:solidFill>
                <a:latin typeface="Calibri"/>
              </a:rPr>
              <a:t>React 19 · TypeScript · Tailwind 4 · Recharts</a:t>
            </a:r>
          </a:p>
        </p:txBody>
      </p:sp>
      <p:sp>
        <p:nvSpPr>
          <p:cNvPr id="17434" name="Rounded Rectangle 17433"/>
          <p:cNvSpPr/>
          <p:nvPr/>
        </p:nvSpPr>
        <p:spPr>
          <a:xfrm>
            <a:off x="5943600" y="3794760"/>
            <a:ext cx="5641848" cy="237744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35" name="TextBox 17434"/>
          <p:cNvSpPr txBox="1"/>
          <p:nvPr/>
        </p:nvSpPr>
        <p:spPr>
          <a:xfrm>
            <a:off x="6144768" y="3931920"/>
            <a:ext cx="5257800" cy="2148840"/>
          </a:xfrm>
          <a:prstGeom prst="rect">
            <a:avLst/>
          </a:prstGeom>
          <a:noFill/>
        </p:spPr>
        <p:txBody>
          <a:bodyPr wrap="square" lIns="0" tIns="0" rIns="0" bIns="0" anchor="t">
            <a:spAutoFit/>
          </a:bodyPr>
          <a:lstStyle/>
          <a:p>
            <a:pPr algn="l">
              <a:spcBef>
                <a:spcPts val="0"/>
              </a:spcBef>
              <a:spcAft>
                <a:spcPts val="600"/>
              </a:spcAft>
            </a:pPr>
            <a:r>
              <a:rPr sz="1000" b="1" i="0">
                <a:solidFill>
                  <a:srgbClr val="6B7789"/>
                </a:solidFill>
                <a:latin typeface="Calibri"/>
              </a:rPr>
              <a:t>SAFETY ENVELOPE — APPLIED TO EVERY COMMAND</a:t>
            </a:r>
          </a:p>
          <a:p>
            <a:pPr algn="l">
              <a:spcBef>
                <a:spcPts val="0"/>
              </a:spcBef>
              <a:spcAft>
                <a:spcPts val="400"/>
              </a:spcAft>
            </a:pPr>
            <a:r>
              <a:rPr sz="1000" b="0" i="0">
                <a:solidFill>
                  <a:srgbClr val="4A5566"/>
                </a:solidFill>
                <a:latin typeface="Calibri"/>
              </a:rPr>
              <a:t>•  Cooling clamped to 22–28 °C, heating to 16–20 °C</a:t>
            </a:r>
          </a:p>
          <a:p>
            <a:pPr algn="l">
              <a:spcBef>
                <a:spcPts val="0"/>
              </a:spcBef>
              <a:spcAft>
                <a:spcPts val="400"/>
              </a:spcAft>
            </a:pPr>
            <a:r>
              <a:rPr sz="1000" b="0" i="0">
                <a:solidFill>
                  <a:srgbClr val="4A5566"/>
                </a:solidFill>
                <a:latin typeface="Calibri"/>
              </a:rPr>
              <a:t>•  Heating ≤ cooling − 2 °C — an inverted deadband terminates EnergyPlus</a:t>
            </a:r>
          </a:p>
          <a:p>
            <a:pPr algn="l">
              <a:spcBef>
                <a:spcPts val="0"/>
              </a:spcBef>
              <a:spcAft>
                <a:spcPts val="400"/>
              </a:spcAft>
            </a:pPr>
            <a:r>
              <a:rPr sz="1000" b="0" i="0">
                <a:solidFill>
                  <a:srgbClr val="4A5566"/>
                </a:solidFill>
                <a:latin typeface="Calibri"/>
              </a:rPr>
              <a:t>•  Maximum 1 °C setpoint change per decision</a:t>
            </a:r>
          </a:p>
          <a:p>
            <a:pPr algn="l">
              <a:spcBef>
                <a:spcPts val="0"/>
              </a:spcBef>
              <a:spcAft>
                <a:spcPts val="400"/>
              </a:spcAft>
            </a:pPr>
            <a:r>
              <a:rPr sz="1000" b="0" i="0">
                <a:solidFill>
                  <a:srgbClr val="4A5566"/>
                </a:solidFill>
                <a:latin typeface="Calibri"/>
              </a:rPr>
              <a:t>•  Non-finite values rejected before clamping (min/max propagate NaN)</a:t>
            </a:r>
          </a:p>
          <a:p>
            <a:pPr algn="l">
              <a:spcBef>
                <a:spcPts val="0"/>
              </a:spcBef>
              <a:spcAft>
                <a:spcPts val="400"/>
              </a:spcAft>
            </a:pPr>
            <a:r>
              <a:rPr sz="1000" b="0" i="0">
                <a:solidFill>
                  <a:srgbClr val="4A5566"/>
                </a:solidFill>
                <a:latin typeface="Calibri"/>
              </a:rPr>
              <a:t>•  No command → actuators released to the building's own schedule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47625"/>
            <a:ext cx="10972800" cy="777240"/>
          </a:xfrm>
        </p:spPr>
        <p:txBody>
          <a:bodyPr/>
          <a:lstStyle/>
          <a:p>
            <a:pPr algn="l" eaLnBrk="1" hangingPunct="1">
              <a:spcBef>
                <a:spcPts val="0"/>
              </a:spcBef>
              <a:spcAft>
                <a:spcPts val="400"/>
              </a:spcAft>
            </a:pPr>
            <a:r>
              <a:rPr sz="3000" b="1" i="0">
                <a:solidFill>
                  <a:srgbClr val="0D1421"/>
                </a:solidFill>
                <a:latin typeface="Cambria"/>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612648" y="1005840"/>
            <a:ext cx="10972800" cy="320040"/>
          </a:xfrm>
          <a:prstGeom prst="rect">
            <a:avLst/>
          </a:prstGeom>
          <a:noFill/>
        </p:spPr>
        <p:txBody>
          <a:bodyPr wrap="square" lIns="0" tIns="0" rIns="0" bIns="0" anchor="t">
            <a:spAutoFit/>
          </a:bodyPr>
          <a:lstStyle/>
          <a:p>
            <a:pPr algn="l">
              <a:spcBef>
                <a:spcPts val="0"/>
              </a:spcBef>
              <a:spcAft>
                <a:spcPts val="400"/>
              </a:spcAft>
            </a:pPr>
            <a:r>
              <a:rPr sz="1200" b="0" i="0">
                <a:solidFill>
                  <a:srgbClr val="4A5566"/>
                </a:solidFill>
                <a:latin typeface="Calibri"/>
              </a:rPr>
              <a:t>Built and measured, not proposed. Same simulated day run three ways under identical conditions.</a:t>
            </a:r>
          </a:p>
        </p:txBody>
      </p:sp>
      <p:sp>
        <p:nvSpPr>
          <p:cNvPr id="17411" name="Rounded Rectangle 17410"/>
          <p:cNvSpPr/>
          <p:nvPr/>
        </p:nvSpPr>
        <p:spPr>
          <a:xfrm>
            <a:off x="612648" y="1463040"/>
            <a:ext cx="3200400" cy="1234440"/>
          </a:xfrm>
          <a:prstGeom prst="roundRect">
            <a:avLst>
              <a:gd name="adj" fmla="val 6000"/>
            </a:avLst>
          </a:prstGeom>
          <a:solidFill>
            <a:srgbClr val="E3F5EC"/>
          </a:solidFill>
          <a:ln w="9525">
            <a:solidFill>
              <a:srgbClr val="0F7A4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2" name="TextBox 17411"/>
          <p:cNvSpPr txBox="1"/>
          <p:nvPr/>
        </p:nvSpPr>
        <p:spPr>
          <a:xfrm>
            <a:off x="795528" y="1600200"/>
            <a:ext cx="2834640" cy="960120"/>
          </a:xfrm>
          <a:prstGeom prst="rect">
            <a:avLst/>
          </a:prstGeom>
          <a:noFill/>
        </p:spPr>
        <p:txBody>
          <a:bodyPr wrap="square" lIns="0" tIns="0" rIns="0" bIns="0" anchor="t">
            <a:spAutoFit/>
          </a:bodyPr>
          <a:lstStyle/>
          <a:p>
            <a:pPr algn="l">
              <a:spcBef>
                <a:spcPts val="0"/>
              </a:spcBef>
              <a:spcAft>
                <a:spcPts val="0"/>
              </a:spcAft>
            </a:pPr>
            <a:r>
              <a:rPr sz="3400" b="1" i="0">
                <a:solidFill>
                  <a:srgbClr val="0F7A4A"/>
                </a:solidFill>
                <a:latin typeface="Cambria"/>
              </a:rPr>
              <a:t>37%</a:t>
            </a:r>
          </a:p>
          <a:p>
            <a:pPr algn="l">
              <a:spcBef>
                <a:spcPts val="0"/>
              </a:spcBef>
              <a:spcAft>
                <a:spcPts val="200"/>
              </a:spcAft>
            </a:pPr>
            <a:r>
              <a:rPr sz="1000" b="1" i="0">
                <a:solidFill>
                  <a:srgbClr val="0F7A4A"/>
                </a:solidFill>
                <a:latin typeface="Calibri"/>
              </a:rPr>
              <a:t>less cooling energy — measured</a:t>
            </a:r>
          </a:p>
          <a:p>
            <a:pPr algn="l">
              <a:spcBef>
                <a:spcPts val="0"/>
              </a:spcBef>
              <a:spcAft>
                <a:spcPts val="0"/>
              </a:spcAft>
            </a:pPr>
            <a:r>
              <a:rPr sz="950" b="0" i="0">
                <a:solidFill>
                  <a:srgbClr val="4A5566"/>
                </a:solidFill>
                <a:latin typeface="Calibri"/>
              </a:rPr>
              <a:t>Uncomfortable 87% → 20% of occupied time</a:t>
            </a:r>
          </a:p>
        </p:txBody>
      </p:sp>
      <p:sp>
        <p:nvSpPr>
          <p:cNvPr id="17413" name="TextBox 17412"/>
          <p:cNvSpPr txBox="1"/>
          <p:nvPr/>
        </p:nvSpPr>
        <p:spPr>
          <a:xfrm>
            <a:off x="3977639" y="1481328"/>
            <a:ext cx="2880360" cy="228600"/>
          </a:xfrm>
          <a:prstGeom prst="rect">
            <a:avLst/>
          </a:prstGeom>
          <a:noFill/>
        </p:spPr>
        <p:txBody>
          <a:bodyPr wrap="square" lIns="0" tIns="0" rIns="0" bIns="0" anchor="t">
            <a:spAutoFit/>
          </a:bodyPr>
          <a:lstStyle/>
          <a:p>
            <a:pPr algn="l">
              <a:spcBef>
                <a:spcPts val="0"/>
              </a:spcBef>
              <a:spcAft>
                <a:spcPts val="400"/>
              </a:spcAft>
            </a:pPr>
            <a:r>
              <a:rPr sz="950" b="1" i="0">
                <a:solidFill>
                  <a:srgbClr val="6B7789"/>
                </a:solidFill>
                <a:latin typeface="Calibri"/>
              </a:rPr>
              <a:t>Metric</a:t>
            </a:r>
          </a:p>
        </p:txBody>
      </p:sp>
      <p:sp>
        <p:nvSpPr>
          <p:cNvPr id="17414" name="TextBox 17413"/>
          <p:cNvSpPr txBox="1"/>
          <p:nvPr/>
        </p:nvSpPr>
        <p:spPr>
          <a:xfrm>
            <a:off x="6903720" y="1481328"/>
            <a:ext cx="1463040" cy="228600"/>
          </a:xfrm>
          <a:prstGeom prst="rect">
            <a:avLst/>
          </a:prstGeom>
          <a:noFill/>
        </p:spPr>
        <p:txBody>
          <a:bodyPr wrap="square" lIns="0" tIns="0" rIns="0" bIns="0" anchor="t">
            <a:spAutoFit/>
          </a:bodyPr>
          <a:lstStyle/>
          <a:p>
            <a:pPr algn="r">
              <a:spcBef>
                <a:spcPts val="0"/>
              </a:spcBef>
              <a:spcAft>
                <a:spcPts val="400"/>
              </a:spcAft>
            </a:pPr>
            <a:r>
              <a:rPr sz="950" b="1" i="0">
                <a:solidFill>
                  <a:srgbClr val="6B7789"/>
                </a:solidFill>
                <a:latin typeface="Calibri"/>
              </a:rPr>
              <a:t>No agent</a:t>
            </a:r>
          </a:p>
        </p:txBody>
      </p:sp>
      <p:sp>
        <p:nvSpPr>
          <p:cNvPr id="17415" name="TextBox 17414"/>
          <p:cNvSpPr txBox="1"/>
          <p:nvPr/>
        </p:nvSpPr>
        <p:spPr>
          <a:xfrm>
            <a:off x="8458200" y="1481328"/>
            <a:ext cx="1645920" cy="228600"/>
          </a:xfrm>
          <a:prstGeom prst="rect">
            <a:avLst/>
          </a:prstGeom>
          <a:noFill/>
        </p:spPr>
        <p:txBody>
          <a:bodyPr wrap="square" lIns="0" tIns="0" rIns="0" bIns="0" anchor="t">
            <a:spAutoFit/>
          </a:bodyPr>
          <a:lstStyle/>
          <a:p>
            <a:pPr algn="r">
              <a:spcBef>
                <a:spcPts val="0"/>
              </a:spcBef>
              <a:spcAft>
                <a:spcPts val="400"/>
              </a:spcAft>
            </a:pPr>
            <a:r>
              <a:rPr sz="950" b="1" i="0">
                <a:solidFill>
                  <a:srgbClr val="6B7789"/>
                </a:solidFill>
                <a:latin typeface="Calibri"/>
              </a:rPr>
              <a:t>Rule engine</a:t>
            </a:r>
          </a:p>
        </p:txBody>
      </p:sp>
      <p:sp>
        <p:nvSpPr>
          <p:cNvPr id="17416" name="TextBox 17415"/>
          <p:cNvSpPr txBox="1"/>
          <p:nvPr/>
        </p:nvSpPr>
        <p:spPr>
          <a:xfrm>
            <a:off x="10195560" y="1481328"/>
            <a:ext cx="1371600" cy="228600"/>
          </a:xfrm>
          <a:prstGeom prst="rect">
            <a:avLst/>
          </a:prstGeom>
          <a:noFill/>
        </p:spPr>
        <p:txBody>
          <a:bodyPr wrap="square" lIns="0" tIns="0" rIns="0" bIns="0" anchor="t">
            <a:spAutoFit/>
          </a:bodyPr>
          <a:lstStyle/>
          <a:p>
            <a:pPr algn="r">
              <a:spcBef>
                <a:spcPts val="0"/>
              </a:spcBef>
              <a:spcAft>
                <a:spcPts val="400"/>
              </a:spcAft>
            </a:pPr>
            <a:r>
              <a:rPr sz="950" b="1" i="0">
                <a:solidFill>
                  <a:srgbClr val="6B7789"/>
                </a:solidFill>
                <a:latin typeface="Calibri"/>
              </a:rPr>
              <a:t>Llama 3</a:t>
            </a:r>
          </a:p>
        </p:txBody>
      </p:sp>
      <p:sp>
        <p:nvSpPr>
          <p:cNvPr id="17417" name="TextBox 17416"/>
          <p:cNvSpPr txBox="1"/>
          <p:nvPr/>
        </p:nvSpPr>
        <p:spPr>
          <a:xfrm>
            <a:off x="3977639" y="1755648"/>
            <a:ext cx="2880360" cy="201168"/>
          </a:xfrm>
          <a:prstGeom prst="rect">
            <a:avLst/>
          </a:prstGeom>
          <a:noFill/>
        </p:spPr>
        <p:txBody>
          <a:bodyPr wrap="square" lIns="0" tIns="0" rIns="0" bIns="0" anchor="t">
            <a:spAutoFit/>
          </a:bodyPr>
          <a:lstStyle/>
          <a:p>
            <a:pPr algn="l">
              <a:spcBef>
                <a:spcPts val="0"/>
              </a:spcBef>
              <a:spcAft>
                <a:spcPts val="400"/>
              </a:spcAft>
            </a:pPr>
            <a:r>
              <a:rPr sz="1000" b="0" i="0">
                <a:solidFill>
                  <a:srgbClr val="4A5566"/>
                </a:solidFill>
                <a:latin typeface="Calibri"/>
              </a:rPr>
              <a:t>Cooling (kWh)</a:t>
            </a:r>
          </a:p>
        </p:txBody>
      </p:sp>
      <p:sp>
        <p:nvSpPr>
          <p:cNvPr id="17418" name="TextBox 17417"/>
          <p:cNvSpPr txBox="1"/>
          <p:nvPr/>
        </p:nvSpPr>
        <p:spPr>
          <a:xfrm>
            <a:off x="6903720" y="1755648"/>
            <a:ext cx="146304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32.93</a:t>
            </a:r>
          </a:p>
        </p:txBody>
      </p:sp>
      <p:sp>
        <p:nvSpPr>
          <p:cNvPr id="17419" name="TextBox 17418"/>
          <p:cNvSpPr txBox="1"/>
          <p:nvPr/>
        </p:nvSpPr>
        <p:spPr>
          <a:xfrm>
            <a:off x="8458200" y="1755648"/>
            <a:ext cx="164592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21.02</a:t>
            </a:r>
          </a:p>
        </p:txBody>
      </p:sp>
      <p:sp>
        <p:nvSpPr>
          <p:cNvPr id="17420" name="TextBox 17419"/>
          <p:cNvSpPr txBox="1"/>
          <p:nvPr/>
        </p:nvSpPr>
        <p:spPr>
          <a:xfrm>
            <a:off x="10195560" y="1755648"/>
            <a:ext cx="1371600" cy="201168"/>
          </a:xfrm>
          <a:prstGeom prst="rect">
            <a:avLst/>
          </a:prstGeom>
          <a:noFill/>
        </p:spPr>
        <p:txBody>
          <a:bodyPr wrap="square" lIns="0" tIns="0" rIns="0" bIns="0" anchor="t">
            <a:spAutoFit/>
          </a:bodyPr>
          <a:lstStyle/>
          <a:p>
            <a:pPr algn="r">
              <a:spcBef>
                <a:spcPts val="0"/>
              </a:spcBef>
              <a:spcAft>
                <a:spcPts val="400"/>
              </a:spcAft>
            </a:pPr>
            <a:r>
              <a:rPr sz="1000" b="1" i="0">
                <a:solidFill>
                  <a:srgbClr val="0F7A4A"/>
                </a:solidFill>
                <a:latin typeface="Calibri"/>
              </a:rPr>
              <a:t>20.72</a:t>
            </a:r>
          </a:p>
        </p:txBody>
      </p:sp>
      <p:sp>
        <p:nvSpPr>
          <p:cNvPr id="17421" name="TextBox 17420"/>
          <p:cNvSpPr txBox="1"/>
          <p:nvPr/>
        </p:nvSpPr>
        <p:spPr>
          <a:xfrm>
            <a:off x="3977639" y="1970531"/>
            <a:ext cx="2880360" cy="201168"/>
          </a:xfrm>
          <a:prstGeom prst="rect">
            <a:avLst/>
          </a:prstGeom>
          <a:noFill/>
        </p:spPr>
        <p:txBody>
          <a:bodyPr wrap="square" lIns="0" tIns="0" rIns="0" bIns="0" anchor="t">
            <a:spAutoFit/>
          </a:bodyPr>
          <a:lstStyle/>
          <a:p>
            <a:pPr algn="l">
              <a:spcBef>
                <a:spcPts val="0"/>
              </a:spcBef>
              <a:spcAft>
                <a:spcPts val="400"/>
              </a:spcAft>
            </a:pPr>
            <a:r>
              <a:rPr sz="1000" b="0" i="0">
                <a:solidFill>
                  <a:srgbClr val="4A5566"/>
                </a:solidFill>
                <a:latin typeface="Calibri"/>
              </a:rPr>
              <a:t>Total electricity (kWh)</a:t>
            </a:r>
          </a:p>
        </p:txBody>
      </p:sp>
      <p:sp>
        <p:nvSpPr>
          <p:cNvPr id="17422" name="TextBox 17421"/>
          <p:cNvSpPr txBox="1"/>
          <p:nvPr/>
        </p:nvSpPr>
        <p:spPr>
          <a:xfrm>
            <a:off x="6903720" y="1970531"/>
            <a:ext cx="146304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167.85</a:t>
            </a:r>
          </a:p>
        </p:txBody>
      </p:sp>
      <p:sp>
        <p:nvSpPr>
          <p:cNvPr id="17423" name="TextBox 17422"/>
          <p:cNvSpPr txBox="1"/>
          <p:nvPr/>
        </p:nvSpPr>
        <p:spPr>
          <a:xfrm>
            <a:off x="8458200" y="1970531"/>
            <a:ext cx="164592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145.35</a:t>
            </a:r>
          </a:p>
        </p:txBody>
      </p:sp>
      <p:sp>
        <p:nvSpPr>
          <p:cNvPr id="17424" name="TextBox 17423"/>
          <p:cNvSpPr txBox="1"/>
          <p:nvPr/>
        </p:nvSpPr>
        <p:spPr>
          <a:xfrm>
            <a:off x="10195560" y="1970531"/>
            <a:ext cx="1371600" cy="201168"/>
          </a:xfrm>
          <a:prstGeom prst="rect">
            <a:avLst/>
          </a:prstGeom>
          <a:noFill/>
        </p:spPr>
        <p:txBody>
          <a:bodyPr wrap="square" lIns="0" tIns="0" rIns="0" bIns="0" anchor="t">
            <a:spAutoFit/>
          </a:bodyPr>
          <a:lstStyle/>
          <a:p>
            <a:pPr algn="r">
              <a:spcBef>
                <a:spcPts val="0"/>
              </a:spcBef>
              <a:spcAft>
                <a:spcPts val="400"/>
              </a:spcAft>
            </a:pPr>
            <a:r>
              <a:rPr sz="1000" b="1" i="0">
                <a:solidFill>
                  <a:srgbClr val="0F7A4A"/>
                </a:solidFill>
                <a:latin typeface="Calibri"/>
              </a:rPr>
              <a:t>145.05</a:t>
            </a:r>
          </a:p>
        </p:txBody>
      </p:sp>
      <p:sp>
        <p:nvSpPr>
          <p:cNvPr id="17425" name="TextBox 17424"/>
          <p:cNvSpPr txBox="1"/>
          <p:nvPr/>
        </p:nvSpPr>
        <p:spPr>
          <a:xfrm>
            <a:off x="3977639" y="2185415"/>
            <a:ext cx="2880360" cy="201168"/>
          </a:xfrm>
          <a:prstGeom prst="rect">
            <a:avLst/>
          </a:prstGeom>
          <a:noFill/>
        </p:spPr>
        <p:txBody>
          <a:bodyPr wrap="square" lIns="0" tIns="0" rIns="0" bIns="0" anchor="t">
            <a:spAutoFit/>
          </a:bodyPr>
          <a:lstStyle/>
          <a:p>
            <a:pPr algn="l">
              <a:spcBef>
                <a:spcPts val="0"/>
              </a:spcBef>
              <a:spcAft>
                <a:spcPts val="400"/>
              </a:spcAft>
            </a:pPr>
            <a:r>
              <a:rPr sz="1000" b="0" i="0">
                <a:solidFill>
                  <a:srgbClr val="4A5566"/>
                </a:solidFill>
                <a:latin typeface="Calibri"/>
              </a:rPr>
              <a:t>Mean occupied PMV</a:t>
            </a:r>
          </a:p>
        </p:txBody>
      </p:sp>
      <p:sp>
        <p:nvSpPr>
          <p:cNvPr id="17426" name="TextBox 17425"/>
          <p:cNvSpPr txBox="1"/>
          <p:nvPr/>
        </p:nvSpPr>
        <p:spPr>
          <a:xfrm>
            <a:off x="6903720" y="2185415"/>
            <a:ext cx="146304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-0.55</a:t>
            </a:r>
          </a:p>
        </p:txBody>
      </p:sp>
      <p:sp>
        <p:nvSpPr>
          <p:cNvPr id="17427" name="TextBox 17426"/>
          <p:cNvSpPr txBox="1"/>
          <p:nvPr/>
        </p:nvSpPr>
        <p:spPr>
          <a:xfrm>
            <a:off x="8458200" y="2185415"/>
            <a:ext cx="164592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+0.02</a:t>
            </a:r>
          </a:p>
        </p:txBody>
      </p:sp>
      <p:sp>
        <p:nvSpPr>
          <p:cNvPr id="17428" name="TextBox 17427"/>
          <p:cNvSpPr txBox="1"/>
          <p:nvPr/>
        </p:nvSpPr>
        <p:spPr>
          <a:xfrm>
            <a:off x="10195560" y="2185415"/>
            <a:ext cx="137160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+0.04</a:t>
            </a:r>
          </a:p>
        </p:txBody>
      </p:sp>
      <p:sp>
        <p:nvSpPr>
          <p:cNvPr id="17429" name="TextBox 17428"/>
          <p:cNvSpPr txBox="1"/>
          <p:nvPr/>
        </p:nvSpPr>
        <p:spPr>
          <a:xfrm>
            <a:off x="3977639" y="2400300"/>
            <a:ext cx="2880360" cy="201168"/>
          </a:xfrm>
          <a:prstGeom prst="rect">
            <a:avLst/>
          </a:prstGeom>
          <a:noFill/>
        </p:spPr>
        <p:txBody>
          <a:bodyPr wrap="square" lIns="0" tIns="0" rIns="0" bIns="0" anchor="t">
            <a:spAutoFit/>
          </a:bodyPr>
          <a:lstStyle/>
          <a:p>
            <a:pPr algn="l">
              <a:spcBef>
                <a:spcPts val="0"/>
              </a:spcBef>
              <a:spcAft>
                <a:spcPts val="400"/>
              </a:spcAft>
            </a:pPr>
            <a:r>
              <a:rPr sz="1000" b="0" i="0">
                <a:solidFill>
                  <a:srgbClr val="4A5566"/>
                </a:solidFill>
                <a:latin typeface="Calibri"/>
              </a:rPr>
              <a:t>Time uncomfortable (%)</a:t>
            </a:r>
          </a:p>
        </p:txBody>
      </p:sp>
      <p:sp>
        <p:nvSpPr>
          <p:cNvPr id="17430" name="TextBox 17429"/>
          <p:cNvSpPr txBox="1"/>
          <p:nvPr/>
        </p:nvSpPr>
        <p:spPr>
          <a:xfrm>
            <a:off x="6903720" y="2400300"/>
            <a:ext cx="146304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86.8</a:t>
            </a:r>
          </a:p>
        </p:txBody>
      </p:sp>
      <p:sp>
        <p:nvSpPr>
          <p:cNvPr id="17431" name="TextBox 17430"/>
          <p:cNvSpPr txBox="1"/>
          <p:nvPr/>
        </p:nvSpPr>
        <p:spPr>
          <a:xfrm>
            <a:off x="8458200" y="2400300"/>
            <a:ext cx="1645920" cy="201168"/>
          </a:xfrm>
          <a:prstGeom prst="rect">
            <a:avLst/>
          </a:prstGeom>
          <a:noFill/>
        </p:spPr>
        <p:txBody>
          <a:bodyPr wrap="square" lIns="0" tIns="0" rIns="0" bIns="0" anchor="t">
            <a:spAutoFit/>
          </a:bodyPr>
          <a:lstStyle/>
          <a:p>
            <a:pPr algn="r">
              <a:spcBef>
                <a:spcPts val="0"/>
              </a:spcBef>
              <a:spcAft>
                <a:spcPts val="400"/>
              </a:spcAft>
            </a:pPr>
            <a:r>
              <a:rPr sz="1000" b="1" i="0">
                <a:solidFill>
                  <a:srgbClr val="0F7A4A"/>
                </a:solidFill>
                <a:latin typeface="Calibri"/>
              </a:rPr>
              <a:t>14.5</a:t>
            </a:r>
          </a:p>
        </p:txBody>
      </p:sp>
      <p:sp>
        <p:nvSpPr>
          <p:cNvPr id="17432" name="TextBox 17431"/>
          <p:cNvSpPr txBox="1"/>
          <p:nvPr/>
        </p:nvSpPr>
        <p:spPr>
          <a:xfrm>
            <a:off x="10195560" y="2400300"/>
            <a:ext cx="137160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20.0</a:t>
            </a:r>
          </a:p>
        </p:txBody>
      </p:sp>
      <p:sp>
        <p:nvSpPr>
          <p:cNvPr id="17433" name="TextBox 17432"/>
          <p:cNvSpPr txBox="1"/>
          <p:nvPr/>
        </p:nvSpPr>
        <p:spPr>
          <a:xfrm>
            <a:off x="3977639" y="2615184"/>
            <a:ext cx="2880360" cy="201168"/>
          </a:xfrm>
          <a:prstGeom prst="rect">
            <a:avLst/>
          </a:prstGeom>
          <a:noFill/>
        </p:spPr>
        <p:txBody>
          <a:bodyPr wrap="square" lIns="0" tIns="0" rIns="0" bIns="0" anchor="t">
            <a:spAutoFit/>
          </a:bodyPr>
          <a:lstStyle/>
          <a:p>
            <a:pPr algn="l">
              <a:spcBef>
                <a:spcPts val="0"/>
              </a:spcBef>
              <a:spcAft>
                <a:spcPts val="400"/>
              </a:spcAft>
            </a:pPr>
            <a:r>
              <a:rPr sz="1000" b="0" i="0">
                <a:solidFill>
                  <a:srgbClr val="4A5566"/>
                </a:solidFill>
                <a:latin typeface="Calibri"/>
              </a:rPr>
              <a:t>Model fallbacks</a:t>
            </a:r>
          </a:p>
        </p:txBody>
      </p:sp>
      <p:sp>
        <p:nvSpPr>
          <p:cNvPr id="17434" name="TextBox 17433"/>
          <p:cNvSpPr txBox="1"/>
          <p:nvPr/>
        </p:nvSpPr>
        <p:spPr>
          <a:xfrm>
            <a:off x="6903720" y="2615184"/>
            <a:ext cx="146304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a:t>
            </a:r>
          </a:p>
        </p:txBody>
      </p:sp>
      <p:sp>
        <p:nvSpPr>
          <p:cNvPr id="17435" name="TextBox 17434"/>
          <p:cNvSpPr txBox="1"/>
          <p:nvPr/>
        </p:nvSpPr>
        <p:spPr>
          <a:xfrm>
            <a:off x="8458200" y="2615184"/>
            <a:ext cx="164592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a:t>
            </a:r>
          </a:p>
        </p:txBody>
      </p:sp>
      <p:sp>
        <p:nvSpPr>
          <p:cNvPr id="17436" name="TextBox 17435"/>
          <p:cNvSpPr txBox="1"/>
          <p:nvPr/>
        </p:nvSpPr>
        <p:spPr>
          <a:xfrm>
            <a:off x="10195560" y="2615184"/>
            <a:ext cx="1371600" cy="201168"/>
          </a:xfrm>
          <a:prstGeom prst="rect">
            <a:avLst/>
          </a:prstGeom>
          <a:noFill/>
        </p:spPr>
        <p:txBody>
          <a:bodyPr wrap="square" lIns="0" tIns="0" rIns="0" bIns="0" anchor="t">
            <a:spAutoFit/>
          </a:bodyPr>
          <a:lstStyle/>
          <a:p>
            <a:pPr algn="r">
              <a:spcBef>
                <a:spcPts val="0"/>
              </a:spcBef>
              <a:spcAft>
                <a:spcPts val="400"/>
              </a:spcAft>
            </a:pPr>
            <a:r>
              <a:rPr sz="1000" b="0" i="0">
                <a:solidFill>
                  <a:srgbClr val="0D1421"/>
                </a:solidFill>
                <a:latin typeface="Calibri"/>
              </a:rPr>
              <a:t>0</a:t>
            </a:r>
          </a:p>
        </p:txBody>
      </p:sp>
      <p:sp>
        <p:nvSpPr>
          <p:cNvPr id="17437" name="TextBox 17436"/>
          <p:cNvSpPr txBox="1"/>
          <p:nvPr/>
        </p:nvSpPr>
        <p:spPr>
          <a:xfrm>
            <a:off x="3977639" y="2880360"/>
            <a:ext cx="7589520" cy="228600"/>
          </a:xfrm>
          <a:prstGeom prst="rect">
            <a:avLst/>
          </a:prstGeom>
          <a:noFill/>
        </p:spPr>
        <p:txBody>
          <a:bodyPr wrap="square" lIns="0" tIns="0" rIns="0" bIns="0" anchor="t">
            <a:spAutoFit/>
          </a:bodyPr>
          <a:lstStyle/>
          <a:p>
            <a:pPr algn="l">
              <a:spcBef>
                <a:spcPts val="0"/>
              </a:spcBef>
              <a:spcAft>
                <a:spcPts val="400"/>
              </a:spcAft>
            </a:pPr>
            <a:r>
              <a:rPr sz="850" b="0" i="1">
                <a:solidFill>
                  <a:srgbClr val="6B7789"/>
                </a:solidFill>
                <a:latin typeface="Calibri"/>
              </a:rPr>
              <a:t>Recorded 07-02 on 5ZoneAirCooled.idf · python scripts/compare_policies.py --date 07-02 --decide-every 4</a:t>
            </a:r>
          </a:p>
        </p:txBody>
      </p:sp>
      <p:sp>
        <p:nvSpPr>
          <p:cNvPr id="17438" name="TextBox 17437"/>
          <p:cNvSpPr txBox="1"/>
          <p:nvPr/>
        </p:nvSpPr>
        <p:spPr>
          <a:xfrm>
            <a:off x="612648" y="3246120"/>
            <a:ext cx="10972800" cy="274320"/>
          </a:xfrm>
          <a:prstGeom prst="rect">
            <a:avLst/>
          </a:prstGeom>
          <a:noFill/>
        </p:spPr>
        <p:txBody>
          <a:bodyPr wrap="square" lIns="0" tIns="0" rIns="0" bIns="0" anchor="t">
            <a:spAutoFit/>
          </a:bodyPr>
          <a:lstStyle/>
          <a:p>
            <a:pPr algn="l">
              <a:spcBef>
                <a:spcPts val="0"/>
              </a:spcBef>
              <a:spcAft>
                <a:spcPts val="400"/>
              </a:spcAft>
            </a:pPr>
            <a:r>
              <a:rPr sz="1000" b="1" i="0">
                <a:solidFill>
                  <a:srgbClr val="6B7789"/>
                </a:solidFill>
                <a:latin typeface="Calibri"/>
              </a:rPr>
              <a:t>RISKS AND HOW THEY ARE ALREADY HANDLED</a:t>
            </a:r>
          </a:p>
        </p:txBody>
      </p:sp>
      <p:sp>
        <p:nvSpPr>
          <p:cNvPr id="17439" name="Rounded Rectangle 17438"/>
          <p:cNvSpPr/>
          <p:nvPr/>
        </p:nvSpPr>
        <p:spPr>
          <a:xfrm>
            <a:off x="612648" y="3566160"/>
            <a:ext cx="5349240" cy="9144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40" name="TextBox 17439"/>
          <p:cNvSpPr txBox="1"/>
          <p:nvPr/>
        </p:nvSpPr>
        <p:spPr>
          <a:xfrm>
            <a:off x="795528" y="3675887"/>
            <a:ext cx="4983480" cy="731520"/>
          </a:xfrm>
          <a:prstGeom prst="rect">
            <a:avLst/>
          </a:prstGeom>
          <a:noFill/>
        </p:spPr>
        <p:txBody>
          <a:bodyPr wrap="square" lIns="0" tIns="0" rIns="0" bIns="0" anchor="t">
            <a:spAutoFit/>
          </a:bodyPr>
          <a:lstStyle/>
          <a:p>
            <a:pPr algn="l">
              <a:spcBef>
                <a:spcPts val="0"/>
              </a:spcBef>
              <a:spcAft>
                <a:spcPts val="200"/>
              </a:spcAft>
            </a:pPr>
            <a:r>
              <a:rPr sz="1050" b="1" i="0">
                <a:solidFill>
                  <a:srgbClr val="A35700"/>
                </a:solidFill>
                <a:latin typeface="Calibri"/>
              </a:rPr>
              <a:t>Model is slow, wrong or offline</a:t>
            </a:r>
          </a:p>
          <a:p>
            <a:pPr algn="l">
              <a:spcBef>
                <a:spcPts val="0"/>
              </a:spcBef>
              <a:spcAft>
                <a:spcPts val="0"/>
              </a:spcAft>
            </a:pPr>
            <a:r>
              <a:rPr sz="950" b="0" i="0">
                <a:solidFill>
                  <a:srgbClr val="4A5566"/>
                </a:solidFill>
                <a:latin typeface="Calibri"/>
              </a:rPr>
              <a:t>Rule engine takes over automatically. Verified: a stub failing half its responses produced 100 decisions with zero simulation errors.</a:t>
            </a:r>
          </a:p>
        </p:txBody>
      </p:sp>
      <p:sp>
        <p:nvSpPr>
          <p:cNvPr id="17441" name="Rounded Rectangle 17440"/>
          <p:cNvSpPr/>
          <p:nvPr/>
        </p:nvSpPr>
        <p:spPr>
          <a:xfrm>
            <a:off x="6190488" y="3566160"/>
            <a:ext cx="5349240" cy="9144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42" name="TextBox 17441"/>
          <p:cNvSpPr txBox="1"/>
          <p:nvPr/>
        </p:nvSpPr>
        <p:spPr>
          <a:xfrm>
            <a:off x="6373368" y="3675887"/>
            <a:ext cx="4983480" cy="731520"/>
          </a:xfrm>
          <a:prstGeom prst="rect">
            <a:avLst/>
          </a:prstGeom>
          <a:noFill/>
        </p:spPr>
        <p:txBody>
          <a:bodyPr wrap="square" lIns="0" tIns="0" rIns="0" bIns="0" anchor="t">
            <a:spAutoFit/>
          </a:bodyPr>
          <a:lstStyle/>
          <a:p>
            <a:pPr algn="l">
              <a:spcBef>
                <a:spcPts val="0"/>
              </a:spcBef>
              <a:spcAft>
                <a:spcPts val="200"/>
              </a:spcAft>
            </a:pPr>
            <a:r>
              <a:rPr sz="1050" b="1" i="0">
                <a:solidFill>
                  <a:srgbClr val="A35700"/>
                </a:solidFill>
                <a:latin typeface="Calibri"/>
              </a:rPr>
              <a:t>Model asks for an unsafe setpoint</a:t>
            </a:r>
          </a:p>
          <a:p>
            <a:pPr algn="l">
              <a:spcBef>
                <a:spcPts val="0"/>
              </a:spcBef>
              <a:spcAft>
                <a:spcPts val="0"/>
              </a:spcAft>
            </a:pPr>
            <a:r>
              <a:rPr sz="950" b="0" i="0">
                <a:solidFill>
                  <a:srgbClr val="4A5566"/>
                </a:solidFill>
                <a:latin typeface="Calibri"/>
              </a:rPr>
              <a:t>Clamped at the actuator boundary. A 4 °C request becomes 27 °C, and the adjustment is logged and displayed.</a:t>
            </a:r>
          </a:p>
        </p:txBody>
      </p:sp>
      <p:sp>
        <p:nvSpPr>
          <p:cNvPr id="17443" name="Rounded Rectangle 17442"/>
          <p:cNvSpPr/>
          <p:nvPr/>
        </p:nvSpPr>
        <p:spPr>
          <a:xfrm>
            <a:off x="612648" y="4617720"/>
            <a:ext cx="5349240" cy="9144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44" name="TextBox 17443"/>
          <p:cNvSpPr txBox="1"/>
          <p:nvPr/>
        </p:nvSpPr>
        <p:spPr>
          <a:xfrm>
            <a:off x="795528" y="4727448"/>
            <a:ext cx="4983480" cy="731520"/>
          </a:xfrm>
          <a:prstGeom prst="rect">
            <a:avLst/>
          </a:prstGeom>
          <a:noFill/>
        </p:spPr>
        <p:txBody>
          <a:bodyPr wrap="square" lIns="0" tIns="0" rIns="0" bIns="0" anchor="t">
            <a:spAutoFit/>
          </a:bodyPr>
          <a:lstStyle/>
          <a:p>
            <a:pPr algn="l">
              <a:spcBef>
                <a:spcPts val="0"/>
              </a:spcBef>
              <a:spcAft>
                <a:spcPts val="200"/>
              </a:spcAft>
            </a:pPr>
            <a:r>
              <a:rPr sz="1050" b="1" i="0">
                <a:solidFill>
                  <a:srgbClr val="A35700"/>
                </a:solidFill>
                <a:latin typeface="Calibri"/>
              </a:rPr>
              <a:t>Results look cherry-picked</a:t>
            </a:r>
          </a:p>
          <a:p>
            <a:pPr algn="l">
              <a:spcBef>
                <a:spcPts val="0"/>
              </a:spcBef>
              <a:spcAft>
                <a:spcPts val="0"/>
              </a:spcAft>
            </a:pPr>
            <a:r>
              <a:rPr sz="950" b="0" i="0">
                <a:solidFill>
                  <a:srgbClr val="4A5566"/>
                </a:solidFill>
                <a:latin typeface="Calibri"/>
              </a:rPr>
              <a:t>One command reproduces the benchmark. Provenance for every figure is on screen: measured, derived or estimated.</a:t>
            </a:r>
          </a:p>
        </p:txBody>
      </p:sp>
      <p:sp>
        <p:nvSpPr>
          <p:cNvPr id="17445" name="Rounded Rectangle 17444"/>
          <p:cNvSpPr/>
          <p:nvPr/>
        </p:nvSpPr>
        <p:spPr>
          <a:xfrm>
            <a:off x="6190488" y="4617720"/>
            <a:ext cx="5349240" cy="91440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46" name="TextBox 17445"/>
          <p:cNvSpPr txBox="1"/>
          <p:nvPr/>
        </p:nvSpPr>
        <p:spPr>
          <a:xfrm>
            <a:off x="6373368" y="4727448"/>
            <a:ext cx="4983480" cy="731520"/>
          </a:xfrm>
          <a:prstGeom prst="rect">
            <a:avLst/>
          </a:prstGeom>
          <a:noFill/>
        </p:spPr>
        <p:txBody>
          <a:bodyPr wrap="square" lIns="0" tIns="0" rIns="0" bIns="0" anchor="t">
            <a:spAutoFit/>
          </a:bodyPr>
          <a:lstStyle/>
          <a:p>
            <a:pPr algn="l">
              <a:spcBef>
                <a:spcPts val="0"/>
              </a:spcBef>
              <a:spcAft>
                <a:spcPts val="200"/>
              </a:spcAft>
            </a:pPr>
            <a:r>
              <a:rPr sz="1050" b="1" i="0">
                <a:solidFill>
                  <a:srgbClr val="A35700"/>
                </a:solidFill>
                <a:latin typeface="Calibri"/>
              </a:rPr>
              <a:t>Simulation ≠ real building</a:t>
            </a:r>
          </a:p>
          <a:p>
            <a:pPr algn="l">
              <a:spcBef>
                <a:spcPts val="0"/>
              </a:spcBef>
              <a:spcAft>
                <a:spcPts val="0"/>
              </a:spcAft>
            </a:pPr>
            <a:r>
              <a:rPr sz="950" b="0" i="0">
                <a:solidFill>
                  <a:srgbClr val="4A5566"/>
                </a:solidFill>
                <a:latin typeface="Calibri"/>
              </a:rPr>
              <a:t>Nothing above the state store touches EnergyPlus. A BACnet adapter replaces the simulation without changing the agent or safety layer.</a:t>
            </a:r>
          </a:p>
        </p:txBody>
      </p:sp>
      <p:sp>
        <p:nvSpPr>
          <p:cNvPr id="17447" name="Rounded Rectangle 17446"/>
          <p:cNvSpPr/>
          <p:nvPr/>
        </p:nvSpPr>
        <p:spPr>
          <a:xfrm>
            <a:off x="612648" y="5715000"/>
            <a:ext cx="10972800" cy="50292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48" name="TextBox 17447"/>
          <p:cNvSpPr txBox="1"/>
          <p:nvPr/>
        </p:nvSpPr>
        <p:spPr>
          <a:xfrm>
            <a:off x="822960" y="5824728"/>
            <a:ext cx="10607040" cy="320040"/>
          </a:xfrm>
          <a:prstGeom prst="rect">
            <a:avLst/>
          </a:prstGeom>
          <a:noFill/>
        </p:spPr>
        <p:txBody>
          <a:bodyPr wrap="square" lIns="0" tIns="0" rIns="0" bIns="0" anchor="t">
            <a:spAutoFit/>
          </a:bodyPr>
          <a:lstStyle/>
          <a:p>
            <a:pPr algn="l">
              <a:spcBef>
                <a:spcPts val="0"/>
              </a:spcBef>
              <a:spcAft>
                <a:spcPts val="400"/>
              </a:spcAft>
            </a:pPr>
            <a:r>
              <a:rPr sz="1000" b="1" i="0">
                <a:solidFill>
                  <a:srgbClr val="4A5566"/>
                </a:solidFill>
                <a:latin typeface="Calibri"/>
              </a:rPr>
              <a:t>NEXT:  demand-controlled ventilation (CO₂ is monitored but not yet actuated)  ·  multi-day benchmark  ·  BACnet adapter for real hardware  ·  occupancy forecasting</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09052-50AE-B3C2-6A1C-5CFF37D94A7E}"/>
            </a:ext>
          </a:extLst>
        </p:cNvPr>
        <p:cNvGrpSpPr/>
        <p:nvPr/>
      </p:nvGrpSpPr>
      <p:grpSpPr>
        <a:xfrm>
          <a:off x="0" y="0"/>
          <a:ext cx="0" cy="0"/>
          <a:chOff x="0" y="0"/>
          <a:chExt cx="0" cy="0"/>
        </a:xfrm>
      </p:grpSpPr>
      <p:sp>
        <p:nvSpPr>
          <p:cNvPr id="17409" name="Title 1">
            <a:extLst>
              <a:ext uri="{FF2B5EF4-FFF2-40B4-BE49-F238E27FC236}">
                <a16:creationId xmlns:a16="http://schemas.microsoft.com/office/drawing/2014/main" id="{5E03BF1A-7989-5C44-934B-D93E149184A6}"/>
              </a:ext>
            </a:extLst>
          </p:cNvPr>
          <p:cNvSpPr>
            <a:spLocks noGrp="1"/>
          </p:cNvSpPr>
          <p:nvPr>
            <p:ph type="title"/>
          </p:nvPr>
        </p:nvSpPr>
        <p:spPr>
          <a:xfrm>
            <a:off x="609600" y="-47625"/>
            <a:ext cx="10972800" cy="777240"/>
          </a:xfrm>
        </p:spPr>
        <p:txBody>
          <a:bodyPr/>
          <a:lstStyle/>
          <a:p>
            <a:pPr algn="l" eaLnBrk="1" hangingPunct="1">
              <a:spcBef>
                <a:spcPts val="0"/>
              </a:spcBef>
              <a:spcAft>
                <a:spcPts val="400"/>
              </a:spcAft>
            </a:pPr>
            <a:r>
              <a:rPr sz="3000" b="1" i="0">
                <a:solidFill>
                  <a:srgbClr val="0D1421"/>
                </a:solidFill>
                <a:latin typeface="Cambria"/>
              </a:rPr>
              <a:t>ARTIFACTS</a:t>
            </a:r>
          </a:p>
        </p:txBody>
      </p:sp>
      <p:sp>
        <p:nvSpPr>
          <p:cNvPr id="6" name="Slide Number Placeholder 5">
            <a:extLst>
              <a:ext uri="{FF2B5EF4-FFF2-40B4-BE49-F238E27FC236}">
                <a16:creationId xmlns:a16="http://schemas.microsoft.com/office/drawing/2014/main" id="{84B14AAA-63FC-5F17-FE74-5405495A1CD3}"/>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TextBox 17409"/>
          <p:cNvSpPr txBox="1"/>
          <p:nvPr/>
        </p:nvSpPr>
        <p:spPr>
          <a:xfrm>
            <a:off x="612648" y="987552"/>
            <a:ext cx="10972800" cy="292608"/>
          </a:xfrm>
          <a:prstGeom prst="rect">
            <a:avLst/>
          </a:prstGeom>
          <a:noFill/>
        </p:spPr>
        <p:txBody>
          <a:bodyPr wrap="square" lIns="0" tIns="0" rIns="0" bIns="0" anchor="t">
            <a:spAutoFit/>
          </a:bodyPr>
          <a:lstStyle/>
          <a:p>
            <a:pPr algn="l">
              <a:spcBef>
                <a:spcPts val="0"/>
              </a:spcBef>
              <a:spcAft>
                <a:spcPts val="400"/>
              </a:spcAft>
            </a:pPr>
            <a:r>
              <a:rPr sz="1200" b="0" i="0">
                <a:solidFill>
                  <a:srgbClr val="4A5566"/>
                </a:solidFill>
                <a:latin typeface="Calibri"/>
              </a:rPr>
              <a:t>Live operations dashboard — every value labelled Measured, Derived or Estimated, with its basis one hover away.</a:t>
            </a:r>
          </a:p>
        </p:txBody>
      </p:sp>
      <p:pic>
        <p:nvPicPr>
          <p:cNvPr id="17411" name="Picture 17410" descr="dashboard-full.png"/>
          <p:cNvPicPr>
            <a:picLocks noChangeAspect="1"/>
          </p:cNvPicPr>
          <p:nvPr/>
        </p:nvPicPr>
        <p:blipFill>
          <a:blip r:embed="rId3"/>
          <a:stretch>
            <a:fillRect/>
          </a:stretch>
        </p:blipFill>
        <p:spPr>
          <a:xfrm>
            <a:off x="612648" y="1371600"/>
            <a:ext cx="6949440" cy="5429250"/>
          </a:xfrm>
          <a:prstGeom prst="rect">
            <a:avLst/>
          </a:prstGeom>
        </p:spPr>
      </p:pic>
      <p:sp>
        <p:nvSpPr>
          <p:cNvPr id="17412" name="TextBox 17411"/>
          <p:cNvSpPr txBox="1"/>
          <p:nvPr/>
        </p:nvSpPr>
        <p:spPr>
          <a:xfrm>
            <a:off x="612648" y="5870448"/>
            <a:ext cx="6949440" cy="256032"/>
          </a:xfrm>
          <a:prstGeom prst="rect">
            <a:avLst/>
          </a:prstGeom>
          <a:noFill/>
        </p:spPr>
        <p:txBody>
          <a:bodyPr wrap="square" lIns="0" tIns="0" rIns="0" bIns="0" anchor="t">
            <a:spAutoFit/>
          </a:bodyPr>
          <a:lstStyle/>
          <a:p>
            <a:pPr algn="l">
              <a:spcBef>
                <a:spcPts val="0"/>
              </a:spcBef>
              <a:spcAft>
                <a:spcPts val="400"/>
              </a:spcAft>
            </a:pPr>
            <a:r>
              <a:rPr sz="900" b="0" i="1">
                <a:solidFill>
                  <a:srgbClr val="6B7789"/>
                </a:solidFill>
                <a:latin typeface="Calibri"/>
              </a:rPr>
              <a:t>Digital twin uses the real zone polygons from the EnergyPlus model — four perimeter zones around a core.</a:t>
            </a:r>
          </a:p>
        </p:txBody>
      </p:sp>
      <p:pic>
        <p:nvPicPr>
          <p:cNvPr id="17413" name="Picture 17412" descr="safety-layer-clamped.png"/>
          <p:cNvPicPr>
            <a:picLocks noChangeAspect="1"/>
          </p:cNvPicPr>
          <p:nvPr/>
        </p:nvPicPr>
        <p:blipFill>
          <a:blip r:embed="rId4"/>
          <a:stretch>
            <a:fillRect/>
          </a:stretch>
        </p:blipFill>
        <p:spPr>
          <a:xfrm>
            <a:off x="7772400" y="1371600"/>
            <a:ext cx="2872001" cy="3200400"/>
          </a:xfrm>
          <a:prstGeom prst="rect">
            <a:avLst/>
          </a:prstGeom>
        </p:spPr>
      </p:pic>
      <p:sp>
        <p:nvSpPr>
          <p:cNvPr id="17414" name="TextBox 17413"/>
          <p:cNvSpPr txBox="1"/>
          <p:nvPr/>
        </p:nvSpPr>
        <p:spPr>
          <a:xfrm>
            <a:off x="7772400" y="4681728"/>
            <a:ext cx="3840480" cy="274320"/>
          </a:xfrm>
          <a:prstGeom prst="rect">
            <a:avLst/>
          </a:prstGeom>
          <a:noFill/>
        </p:spPr>
        <p:txBody>
          <a:bodyPr wrap="square" lIns="0" tIns="0" rIns="0" bIns="0" anchor="t">
            <a:spAutoFit/>
          </a:bodyPr>
          <a:lstStyle/>
          <a:p>
            <a:pPr algn="l">
              <a:spcBef>
                <a:spcPts val="0"/>
              </a:spcBef>
              <a:spcAft>
                <a:spcPts val="400"/>
              </a:spcAft>
            </a:pPr>
            <a:r>
              <a:rPr sz="1000" b="1" i="0">
                <a:solidFill>
                  <a:srgbClr val="6B7789"/>
                </a:solidFill>
                <a:latin typeface="Calibri"/>
              </a:rPr>
              <a:t>SAFETY LAYER — A JUDGE CAN TRIGGER THIS</a:t>
            </a:r>
          </a:p>
        </p:txBody>
      </p:sp>
      <p:sp>
        <p:nvSpPr>
          <p:cNvPr id="17415" name="TextBox 17414"/>
          <p:cNvSpPr txBox="1"/>
          <p:nvPr/>
        </p:nvSpPr>
        <p:spPr>
          <a:xfrm>
            <a:off x="7772400" y="4937760"/>
            <a:ext cx="3840480" cy="822960"/>
          </a:xfrm>
          <a:prstGeom prst="rect">
            <a:avLst/>
          </a:prstGeom>
          <a:noFill/>
        </p:spPr>
        <p:txBody>
          <a:bodyPr wrap="square" lIns="0" tIns="0" rIns="0" bIns="0" anchor="t">
            <a:spAutoFit/>
          </a:bodyPr>
          <a:lstStyle/>
          <a:p>
            <a:pPr algn="l">
              <a:spcBef>
                <a:spcPts val="0"/>
              </a:spcBef>
              <a:spcAft>
                <a:spcPts val="400"/>
              </a:spcAft>
            </a:pPr>
            <a:r>
              <a:rPr sz="950" b="0" i="0">
                <a:solidFill>
                  <a:srgbClr val="4A5566"/>
                </a:solidFill>
                <a:latin typeface="Calibri"/>
              </a:rPr>
              <a:t>A real request for 4 °C is clamped to 22 °C, then rate-limited to 27 °C. Both rules are shown. The same panel renders commands from the agent, an operator and MCP — one control path, one clamp.</a:t>
            </a:r>
          </a:p>
        </p:txBody>
      </p:sp>
      <p:sp>
        <p:nvSpPr>
          <p:cNvPr id="17416" name="Rounded Rectangle 17415"/>
          <p:cNvSpPr/>
          <p:nvPr/>
        </p:nvSpPr>
        <p:spPr>
          <a:xfrm>
            <a:off x="7772400" y="5806440"/>
            <a:ext cx="3813048" cy="384048"/>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7" name="TextBox 17416"/>
          <p:cNvSpPr txBox="1"/>
          <p:nvPr/>
        </p:nvSpPr>
        <p:spPr>
          <a:xfrm>
            <a:off x="7936992" y="5897880"/>
            <a:ext cx="3520440" cy="228600"/>
          </a:xfrm>
          <a:prstGeom prst="rect">
            <a:avLst/>
          </a:prstGeom>
          <a:noFill/>
        </p:spPr>
        <p:txBody>
          <a:bodyPr wrap="square" lIns="0" tIns="0" rIns="0" bIns="0" anchor="t">
            <a:spAutoFit/>
          </a:bodyPr>
          <a:lstStyle/>
          <a:p>
            <a:pPr algn="l">
              <a:spcBef>
                <a:spcPts val="0"/>
              </a:spcBef>
              <a:spcAft>
                <a:spcPts val="400"/>
              </a:spcAft>
            </a:pPr>
            <a:r>
              <a:rPr sz="950" b="1" i="0">
                <a:solidFill>
                  <a:srgbClr val="4A5566"/>
                </a:solidFill>
                <a:latin typeface="Calibri"/>
              </a:rPr>
              <a:t>201 automated tests  ·  38/38 sensors  ·  9/9 meters  ·  0 fallbacks</a:t>
            </a:r>
          </a:p>
        </p:txBody>
      </p:sp>
    </p:spTree>
    <p:extLst>
      <p:ext uri="{BB962C8B-B14F-4D97-AF65-F5344CB8AC3E}">
        <p14:creationId xmlns:p14="http://schemas.microsoft.com/office/powerpoint/2010/main" val="973447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a:xfrm>
            <a:off x="609600" y="-47625"/>
            <a:ext cx="10972800" cy="777240"/>
          </a:xfrm>
        </p:spPr>
        <p:txBody>
          <a:bodyPr/>
          <a:lstStyle/>
          <a:p>
            <a:pPr algn="l" eaLnBrk="1" hangingPunct="1">
              <a:spcBef>
                <a:spcPts val="0"/>
              </a:spcBef>
              <a:spcAft>
                <a:spcPts val="400"/>
              </a:spcAft>
            </a:pPr>
            <a:r>
              <a:rPr sz="3000" b="1" i="0">
                <a:solidFill>
                  <a:srgbClr val="0D1421"/>
                </a:solidFill>
                <a:latin typeface="Cambria"/>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17410" name="Rounded Rectangle 17409"/>
          <p:cNvSpPr/>
          <p:nvPr/>
        </p:nvSpPr>
        <p:spPr>
          <a:xfrm>
            <a:off x="612648" y="1234440"/>
            <a:ext cx="10972800" cy="146304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1" name="TextBox 17410"/>
          <p:cNvSpPr txBox="1"/>
          <p:nvPr/>
        </p:nvSpPr>
        <p:spPr>
          <a:xfrm>
            <a:off x="822960" y="1371600"/>
            <a:ext cx="10515600" cy="1188720"/>
          </a:xfrm>
          <a:prstGeom prst="rect">
            <a:avLst/>
          </a:prstGeom>
          <a:noFill/>
        </p:spPr>
        <p:txBody>
          <a:bodyPr wrap="square" lIns="0" tIns="0" rIns="0" bIns="0" anchor="t">
            <a:spAutoFit/>
          </a:bodyPr>
          <a:lstStyle/>
          <a:p>
            <a:pPr algn="l">
              <a:spcBef>
                <a:spcPts val="0"/>
              </a:spcBef>
              <a:spcAft>
                <a:spcPts val="600"/>
              </a:spcAft>
            </a:pPr>
            <a:r>
              <a:rPr sz="1050" b="1" i="0">
                <a:solidFill>
                  <a:srgbClr val="A81826"/>
                </a:solidFill>
                <a:latin typeface="Calibri"/>
              </a:rPr>
              <a:t>STANDARDS AND MODELS</a:t>
            </a:r>
          </a:p>
          <a:p>
            <a:pPr algn="l">
              <a:spcBef>
                <a:spcPts val="0"/>
              </a:spcBef>
              <a:spcAft>
                <a:spcPts val="300"/>
              </a:spcAft>
            </a:pPr>
            <a:r>
              <a:rPr sz="1050" b="0" i="0">
                <a:solidFill>
                  <a:srgbClr val="4A5566"/>
                </a:solidFill>
                <a:latin typeface="Calibri"/>
              </a:rPr>
              <a:t>•  ISO 7730:2005 — Fanger PMV/PPD thermal comfort model</a:t>
            </a:r>
          </a:p>
          <a:p>
            <a:pPr algn="l">
              <a:spcBef>
                <a:spcPts val="0"/>
              </a:spcBef>
              <a:spcAft>
                <a:spcPts val="300"/>
              </a:spcAft>
            </a:pPr>
            <a:r>
              <a:rPr sz="1050" b="0" i="0">
                <a:solidFill>
                  <a:srgbClr val="4A5566"/>
                </a:solidFill>
                <a:latin typeface="Calibri"/>
              </a:rPr>
              <a:t>•  ASHRAE Standard 55 — Thermal environmental conditions</a:t>
            </a:r>
          </a:p>
          <a:p>
            <a:pPr algn="l">
              <a:spcBef>
                <a:spcPts val="0"/>
              </a:spcBef>
              <a:spcAft>
                <a:spcPts val="300"/>
              </a:spcAft>
            </a:pPr>
            <a:r>
              <a:rPr sz="1050" b="0" i="0">
                <a:solidFill>
                  <a:srgbClr val="4A5566"/>
                </a:solidFill>
                <a:latin typeface="Calibri"/>
              </a:rPr>
              <a:t>•  ASHRAE Standard 62.1 — Ventilation and CO₂ generation rates</a:t>
            </a:r>
          </a:p>
          <a:p>
            <a:pPr algn="l">
              <a:spcBef>
                <a:spcPts val="0"/>
              </a:spcBef>
              <a:spcAft>
                <a:spcPts val="300"/>
              </a:spcAft>
            </a:pPr>
            <a:r>
              <a:rPr sz="1050" b="0" i="0">
                <a:solidFill>
                  <a:srgbClr val="4A5566"/>
                </a:solidFill>
                <a:latin typeface="Calibri"/>
              </a:rPr>
              <a:t>•  US EPA eGRID — grid emission factor, 0.40 kg CO₂e/kWh</a:t>
            </a:r>
          </a:p>
        </p:txBody>
      </p:sp>
      <p:sp>
        <p:nvSpPr>
          <p:cNvPr id="17412" name="Rounded Rectangle 17411"/>
          <p:cNvSpPr/>
          <p:nvPr/>
        </p:nvSpPr>
        <p:spPr>
          <a:xfrm>
            <a:off x="612648" y="2862072"/>
            <a:ext cx="10972800" cy="1463040"/>
          </a:xfrm>
          <a:prstGeom prst="roundRect">
            <a:avLst>
              <a:gd name="adj" fmla="val 6000"/>
            </a:avLst>
          </a:prstGeom>
          <a:solidFill>
            <a:srgbClr val="F5F7FA"/>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3" name="TextBox 17412"/>
          <p:cNvSpPr txBox="1"/>
          <p:nvPr/>
        </p:nvSpPr>
        <p:spPr>
          <a:xfrm>
            <a:off x="822960" y="2999232"/>
            <a:ext cx="10515600" cy="1188720"/>
          </a:xfrm>
          <a:prstGeom prst="rect">
            <a:avLst/>
          </a:prstGeom>
          <a:noFill/>
        </p:spPr>
        <p:txBody>
          <a:bodyPr wrap="square" lIns="0" tIns="0" rIns="0" bIns="0" anchor="t">
            <a:spAutoFit/>
          </a:bodyPr>
          <a:lstStyle/>
          <a:p>
            <a:pPr algn="l">
              <a:spcBef>
                <a:spcPts val="0"/>
              </a:spcBef>
              <a:spcAft>
                <a:spcPts val="600"/>
              </a:spcAft>
            </a:pPr>
            <a:r>
              <a:rPr sz="1050" b="1" i="0">
                <a:solidFill>
                  <a:srgbClr val="A81826"/>
                </a:solidFill>
                <a:latin typeface="Calibri"/>
              </a:rPr>
              <a:t>TOOLS AND PLATFORMS</a:t>
            </a:r>
          </a:p>
          <a:p>
            <a:pPr algn="l">
              <a:spcBef>
                <a:spcPts val="0"/>
              </a:spcBef>
              <a:spcAft>
                <a:spcPts val="300"/>
              </a:spcAft>
            </a:pPr>
            <a:r>
              <a:rPr sz="1050" b="0" i="0">
                <a:solidFill>
                  <a:srgbClr val="4A5566"/>
                </a:solidFill>
                <a:latin typeface="Calibri"/>
              </a:rPr>
              <a:t>•  EnergyPlus 26.1 — nrel/NatLabRockies, Python plugin API</a:t>
            </a:r>
          </a:p>
          <a:p>
            <a:pPr algn="l">
              <a:spcBef>
                <a:spcPts val="0"/>
              </a:spcBef>
              <a:spcAft>
                <a:spcPts val="300"/>
              </a:spcAft>
            </a:pPr>
            <a:r>
              <a:rPr sz="1050" b="0" i="0">
                <a:solidFill>
                  <a:srgbClr val="4A5566"/>
                </a:solidFill>
                <a:latin typeface="Calibri"/>
              </a:rPr>
              <a:t>•  5ZoneAirCooled.idf — DOE reference model shipped with EnergyPlus</a:t>
            </a:r>
          </a:p>
          <a:p>
            <a:pPr algn="l">
              <a:spcBef>
                <a:spcPts val="0"/>
              </a:spcBef>
              <a:spcAft>
                <a:spcPts val="300"/>
              </a:spcAft>
            </a:pPr>
            <a:r>
              <a:rPr sz="1050" b="0" i="0">
                <a:solidFill>
                  <a:srgbClr val="4A5566"/>
                </a:solidFill>
                <a:latin typeface="Calibri"/>
              </a:rPr>
              <a:t>•  Model Context Protocol — modelcontextprotocol.io</a:t>
            </a:r>
          </a:p>
          <a:p>
            <a:pPr algn="l">
              <a:spcBef>
                <a:spcPts val="0"/>
              </a:spcBef>
              <a:spcAft>
                <a:spcPts val="300"/>
              </a:spcAft>
            </a:pPr>
            <a:r>
              <a:rPr sz="1050" b="0" i="0">
                <a:solidFill>
                  <a:srgbClr val="4A5566"/>
                </a:solidFill>
                <a:latin typeface="Calibri"/>
              </a:rPr>
              <a:t>•  Ollama · Meta Llama 3 8B — locally hosted, no cloud dependency</a:t>
            </a:r>
          </a:p>
        </p:txBody>
      </p:sp>
      <p:sp>
        <p:nvSpPr>
          <p:cNvPr id="17414" name="Rounded Rectangle 17413"/>
          <p:cNvSpPr/>
          <p:nvPr/>
        </p:nvSpPr>
        <p:spPr>
          <a:xfrm>
            <a:off x="612648" y="4489704"/>
            <a:ext cx="10972800" cy="1463040"/>
          </a:xfrm>
          <a:prstGeom prst="roundRect">
            <a:avLst>
              <a:gd name="adj" fmla="val 6000"/>
            </a:avLst>
          </a:prstGeom>
          <a:solidFill>
            <a:srgbClr val="FFFFFF"/>
          </a:solidFill>
          <a:ln w="9525">
            <a:solidFill>
              <a:srgbClr val="D3D9E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15" name="TextBox 17414"/>
          <p:cNvSpPr txBox="1"/>
          <p:nvPr/>
        </p:nvSpPr>
        <p:spPr>
          <a:xfrm>
            <a:off x="822960" y="4626864"/>
            <a:ext cx="10515600" cy="1188720"/>
          </a:xfrm>
          <a:prstGeom prst="rect">
            <a:avLst/>
          </a:prstGeom>
          <a:noFill/>
        </p:spPr>
        <p:txBody>
          <a:bodyPr wrap="square" lIns="0" tIns="0" rIns="0" bIns="0" anchor="t">
            <a:spAutoFit/>
          </a:bodyPr>
          <a:lstStyle/>
          <a:p>
            <a:pPr algn="l">
              <a:spcBef>
                <a:spcPts val="0"/>
              </a:spcBef>
              <a:spcAft>
                <a:spcPts val="600"/>
              </a:spcAft>
            </a:pPr>
            <a:r>
              <a:rPr sz="1050" b="1" i="0">
                <a:solidFill>
                  <a:srgbClr val="A81826"/>
                </a:solidFill>
                <a:latin typeface="Calibri"/>
              </a:rPr>
              <a:t>REPRODUCING OUR RESULTS</a:t>
            </a:r>
          </a:p>
          <a:p>
            <a:pPr algn="l">
              <a:spcBef>
                <a:spcPts val="0"/>
              </a:spcBef>
              <a:spcAft>
                <a:spcPts val="300"/>
              </a:spcAft>
            </a:pPr>
            <a:r>
              <a:rPr sz="1050" b="0" i="0">
                <a:solidFill>
                  <a:srgbClr val="4A5566"/>
                </a:solidFill>
                <a:latin typeface="Calibri"/>
              </a:rPr>
              <a:t>•  python scripts/verify_energyplus.py --run  — API sanity check</a:t>
            </a:r>
          </a:p>
          <a:p>
            <a:pPr algn="l">
              <a:spcBef>
                <a:spcPts val="0"/>
              </a:spcBef>
              <a:spcAft>
                <a:spcPts val="300"/>
              </a:spcAft>
            </a:pPr>
            <a:r>
              <a:rPr sz="1050" b="0" i="0">
                <a:solidFill>
                  <a:srgbClr val="4A5566"/>
                </a:solidFill>
                <a:latin typeface="Calibri"/>
              </a:rPr>
              <a:t>•  python scripts/inspect_model.py  — which sensors the model exposes</a:t>
            </a:r>
          </a:p>
          <a:p>
            <a:pPr algn="l">
              <a:spcBef>
                <a:spcPts val="0"/>
              </a:spcBef>
              <a:spcAft>
                <a:spcPts val="300"/>
              </a:spcAft>
            </a:pPr>
            <a:r>
              <a:rPr sz="1050" b="0" i="0">
                <a:solidFill>
                  <a:srgbClr val="4A5566"/>
                </a:solidFill>
                <a:latin typeface="Calibri"/>
              </a:rPr>
              <a:t>•  python scripts/compare_policies.py  — regenerates the benchmark</a:t>
            </a:r>
          </a:p>
          <a:p>
            <a:pPr algn="l">
              <a:spcBef>
                <a:spcPts val="0"/>
              </a:spcBef>
              <a:spcAft>
                <a:spcPts val="300"/>
              </a:spcAft>
            </a:pPr>
            <a:r>
              <a:rPr sz="1050" b="0" i="0">
                <a:solidFill>
                  <a:srgbClr val="4A5566"/>
                </a:solidFill>
                <a:latin typeface="Calibri"/>
              </a:rPr>
              <a:t>•  python scripts/run_server.py --policy llm  — dashboard on :8000</a:t>
            </a:r>
          </a:p>
        </p:txBody>
      </p:sp>
      <p:sp>
        <p:nvSpPr>
          <p:cNvPr id="17416" name="TextBox 17415"/>
          <p:cNvSpPr txBox="1"/>
          <p:nvPr/>
        </p:nvSpPr>
        <p:spPr>
          <a:xfrm>
            <a:off x="612648" y="6053328"/>
            <a:ext cx="7863840" cy="256032"/>
          </a:xfrm>
          <a:prstGeom prst="rect">
            <a:avLst/>
          </a:prstGeom>
          <a:noFill/>
        </p:spPr>
        <p:txBody>
          <a:bodyPr wrap="square" lIns="0" tIns="0" rIns="0" bIns="0" anchor="t">
            <a:spAutoFit/>
          </a:bodyPr>
          <a:lstStyle/>
          <a:p>
            <a:pPr algn="l">
              <a:spcBef>
                <a:spcPts val="0"/>
              </a:spcBef>
              <a:spcAft>
                <a:spcPts val="400"/>
              </a:spcAft>
            </a:pPr>
            <a:r>
              <a:rPr sz="1000" b="0" i="1">
                <a:solidFill>
                  <a:srgbClr val="6B7789"/>
                </a:solidFill>
                <a:latin typeface="Calibri"/>
              </a:rPr>
              <a:t>Key finding: the unmanaged baseline was over-cooled and wasteful, so energy and comfort improved together rather than trading off.</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d546e5e1-5d42-4630-bacd-c69bfdcbd5e8}" enabled="1" method="Standard" siteId="{96ece526-9c7d-48b0-8daf-8b93c90a5d18}" contentBits="0" removed="0"/>
</clbl:labelList>
</file>

<file path=docProps/app.xml><?xml version="1.0" encoding="utf-8"?>
<Properties xmlns="http://schemas.openxmlformats.org/officeDocument/2006/extended-properties" xmlns:vt="http://schemas.openxmlformats.org/officeDocument/2006/docPropsVTypes">
  <TotalTime>7681</TotalTime>
  <Words>1605</Words>
  <Application>Microsoft Office PowerPoint</Application>
  <PresentationFormat>Widescreen</PresentationFormat>
  <Paragraphs>160</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TradeGothic</vt:lpstr>
      <vt:lpstr>Office Theme</vt:lpstr>
      <vt:lpstr>PowerPoint Presentation</vt:lpstr>
      <vt:lpstr>IDEA — CLOSED-LOOP AI BUILDING CONTROL</vt:lpstr>
      <vt:lpstr>TECHNICAL APPROACH</vt:lpstr>
      <vt:lpstr>FEASIBILITY AND VIABILITY</vt:lpstr>
      <vt:lpstr>ARTIFACTS</vt:lpstr>
      <vt:lpstr>RESEARCH AND REFERENCES</vt:lpstr>
    </vt:vector>
  </TitlesOfParts>
  <Manager/>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Idea Template</dc:title>
  <dc:subject/>
  <cp:keywords/>
  <dc:description/>
  <cp:lastModifiedBy>Astitwa Tanmay</cp:lastModifiedBy>
  <cp:revision>154</cp:revision>
  <dcterms:created xsi:type="dcterms:W3CDTF">2013-12-12T18:46:50Z</dcterms:created>
  <dcterms:modified xsi:type="dcterms:W3CDTF">2026-07-26T12:26:06Z</dcterms:modified>
  <cp:category/>
</cp:coreProperties>
</file>